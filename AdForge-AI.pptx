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zeret Mono Medium"/>
      <p:regular r:id="rId201314"/>
    </p:embeddedFont>
    <p:embeddedFont>
      <p:font typeface="Mona Sans Bold"/>
      <p:regular r:id="rId201315"/>
    </p:embeddedFont>
    <p:embeddedFont>
      <p:font typeface="Mona Sans"/>
      <p:regular r:id="rId201316"/>
    </p:embeddedFont>
    <p:embeddedFont>
      <p:font typeface="Mona Sans SemiBold"/>
      <p:regular r:id="rId201317"/>
    </p:embeddedFont>
    <p:embeddedFont>
      <p:font typeface="Sora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AdForge AI is an AI Advertising Creative Studio built to make the path from product idea to advertisement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a lack of ideas. It is the repetitive creative work between the idea and the final advertisement.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AdForge AI turns a product brief into copy, creative concepts, and platform-specific advertising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AdForge AI supports the people who need to move from a product brief to campaign-ready advertising: small businesses, sellers, marketers, creators, and marketing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experience is intentionally simple: enter the brief, select the campaign, generate, preview, then save and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AdForge combines generation, platform support, reusable assets, templates, and analytics in one creative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layer separates user input, generation, and implementation so the frontend receives a consistent structured response for each campaign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keeps the product legible: React + Vite at the frontend, a REST API layer, FastAPI + Python at the backend, AI service for generation, PostgreSQL for persistent user data, and a creative library for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clearly labeled product concept mockups: the dashboard, Create Ad flow, AI-generated preview, and My Creatives library with templates and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AdForge AI reduces repetitive creative work, helps smaller teams create professional advertisements, and adapts content across platforms. The next horizon expands brand intelligence, testing, publishing, multilingual advertising, analytics, collaboration, and SaaS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A52"/>
          </a:solidFill>
          <a:ln/>
        </p:spPr>
      </p:sp>
      <p:sp>
        <p:nvSpPr>
          <p:cNvPr id="3" name="Shape 1"/>
          <p:cNvSpPr/>
          <p:nvPr/>
        </p:nvSpPr>
        <p:spPr>
          <a:xfrm>
            <a:off x="0" y="0"/>
            <a:ext cx="12191695" cy="6858000"/>
          </a:xfrm>
          <a:prstGeom prst="rect">
            <a:avLst/>
          </a:prstGeom>
          <a:solidFill>
            <a:srgbClr val="0A1633"/>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A52"/>
          </a:solidFill>
          <a:ln/>
        </p:spPr>
      </p:sp>
      <p:sp>
        <p:nvSpPr>
          <p:cNvPr id="3" name="Shape 1"/>
          <p:cNvSpPr/>
          <p:nvPr/>
        </p:nvSpPr>
        <p:spPr>
          <a:xfrm>
            <a:off x="0" y="0"/>
            <a:ext cx="12191695" cy="6858000"/>
          </a:xfrm>
          <a:prstGeom prst="rect">
            <a:avLst/>
          </a:prstGeom>
          <a:solidFill>
            <a:srgbClr val="0A1633"/>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jpe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4185" y="816173"/>
            <a:ext cx="6705432" cy="12700"/>
          </a:xfrm>
          <a:prstGeom prst="rect">
            <a:avLst/>
          </a:prstGeom>
          <a:solidFill>
            <a:srgbClr val="D6DEEC">
              <a:alpha val="22000"/>
            </a:srgbClr>
          </a:solidFill>
          <a:ln/>
        </p:spPr>
      </p:sp>
      <p:sp>
        <p:nvSpPr>
          <p:cNvPr id="3" name="Shape 1"/>
          <p:cNvSpPr/>
          <p:nvPr/>
        </p:nvSpPr>
        <p:spPr>
          <a:xfrm>
            <a:off x="584185" y="533400"/>
            <a:ext cx="1197540" cy="231973"/>
          </a:xfrm>
          <a:prstGeom prst="roundRect">
            <a:avLst>
              <a:gd name="adj" fmla="val 26443"/>
            </a:avLst>
          </a:prstGeom>
          <a:noFill/>
          <a:ln w="6350">
            <a:solidFill>
              <a:srgbClr val="3D7BFF"/>
            </a:solidFill>
            <a:prstDash val="solid"/>
          </a:ln>
        </p:spPr>
      </p:sp>
      <p:sp>
        <p:nvSpPr>
          <p:cNvPr id="4" name="Text 2"/>
          <p:cNvSpPr/>
          <p:nvPr/>
        </p:nvSpPr>
        <p:spPr>
          <a:xfrm>
            <a:off x="664451" y="565448"/>
            <a:ext cx="1646593"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ADFORGE AI</a:t>
            </a:r>
            <a:endParaRPr lang="en-US" sz="1150" dirty="0"/>
          </a:p>
        </p:txBody>
      </p:sp>
      <p:sp>
        <p:nvSpPr>
          <p:cNvPr id="5" name="Text 3"/>
          <p:cNvSpPr/>
          <p:nvPr/>
        </p:nvSpPr>
        <p:spPr>
          <a:xfrm>
            <a:off x="1889673" y="565448"/>
            <a:ext cx="2164998"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HACKATHON PITCH</a:t>
            </a:r>
            <a:endParaRPr lang="en-US" sz="1150" dirty="0"/>
          </a:p>
        </p:txBody>
      </p:sp>
      <p:sp>
        <p:nvSpPr>
          <p:cNvPr id="6" name="Text 4"/>
          <p:cNvSpPr/>
          <p:nvPr/>
        </p:nvSpPr>
        <p:spPr>
          <a:xfrm>
            <a:off x="584185" y="4242594"/>
            <a:ext cx="6705432" cy="914400"/>
          </a:xfrm>
          <a:prstGeom prst="rect">
            <a:avLst/>
          </a:prstGeom>
          <a:noFill/>
          <a:ln/>
        </p:spPr>
        <p:txBody>
          <a:bodyPr wrap="none" lIns="0" tIns="0" rIns="0" bIns="0" rtlCol="0" anchor="t"/>
          <a:lstStyle/>
          <a:p>
            <a:pPr algn="l" indent="0" marL="0">
              <a:lnSpc>
                <a:spcPct val="83000"/>
              </a:lnSpc>
              <a:buNone/>
            </a:pPr>
            <a:r>
              <a:rPr lang="en-US" sz="7200" b="1" spc="-144" kern="0" dirty="0">
                <a:solidFill>
                  <a:srgbClr val="FFFFFF"/>
                </a:solidFill>
                <a:latin typeface="Sora Bold" pitchFamily="34" charset="0"/>
                <a:ea typeface="Sora Bold" pitchFamily="34" charset="-122"/>
                <a:cs typeface="Sora Bold" pitchFamily="34" charset="-120"/>
              </a:rPr>
              <a:t>AdForge AI</a:t>
            </a:r>
            <a:endParaRPr lang="en-US" sz="7200" dirty="0"/>
          </a:p>
        </p:txBody>
      </p:sp>
      <p:sp>
        <p:nvSpPr>
          <p:cNvPr id="7" name="Text 5"/>
          <p:cNvSpPr/>
          <p:nvPr/>
        </p:nvSpPr>
        <p:spPr>
          <a:xfrm>
            <a:off x="584185" y="5350669"/>
            <a:ext cx="6705432" cy="330200"/>
          </a:xfrm>
          <a:prstGeom prst="rect">
            <a:avLst/>
          </a:prstGeom>
          <a:noFill/>
          <a:ln/>
        </p:spPr>
        <p:txBody>
          <a:bodyPr wrap="none" lIns="0" tIns="0" rIns="0" bIns="0" rtlCol="0" anchor="t"/>
          <a:lstStyle/>
          <a:p>
            <a:pPr algn="l" indent="0" marL="0">
              <a:lnSpc>
                <a:spcPct val="108000"/>
              </a:lnSpc>
              <a:buNone/>
            </a:pPr>
            <a:r>
              <a:rPr lang="en-US" sz="2000" dirty="0">
                <a:solidFill>
                  <a:srgbClr val="FFFFFF"/>
                </a:solidFill>
                <a:latin typeface="Mona Sans" pitchFamily="34" charset="0"/>
                <a:ea typeface="Mona Sans" pitchFamily="34" charset="-122"/>
                <a:cs typeface="Mona Sans" pitchFamily="34" charset="-120"/>
              </a:rPr>
              <a:t>Turn product ideas into platform-ready ads.</a:t>
            </a:r>
            <a:endParaRPr lang="en-US" sz="2000" dirty="0"/>
          </a:p>
        </p:txBody>
      </p:sp>
      <p:sp>
        <p:nvSpPr>
          <p:cNvPr id="8" name="Text 6"/>
          <p:cNvSpPr/>
          <p:nvPr/>
        </p:nvSpPr>
        <p:spPr>
          <a:xfrm>
            <a:off x="584185" y="5836444"/>
            <a:ext cx="6705432" cy="589756"/>
          </a:xfrm>
          <a:prstGeom prst="rect">
            <a:avLst/>
          </a:prstGeom>
          <a:noFill/>
          <a:ln/>
        </p:spPr>
        <p:txBody>
          <a:bodyPr wrap="square" lIns="0" tIns="0" rIns="0" bIns="0" rtlCol="0" anchor="t"/>
          <a:lstStyle/>
          <a:p>
            <a:pPr algn="l" indent="0" marL="0">
              <a:lnSpc>
                <a:spcPct val="108000"/>
              </a:lnSpc>
              <a:spcAft>
                <a:spcPts val="1500"/>
              </a:spcAft>
              <a:buNone/>
            </a:pPr>
            <a:r>
              <a:rPr lang="en-US" sz="1200" spc="72" kern="0" dirty="0">
                <a:solidFill>
                  <a:srgbClr val="9FB0CC"/>
                </a:solidFill>
                <a:latin typeface="Azeret Mono Medium" pitchFamily="34" charset="0"/>
                <a:ea typeface="Azeret Mono Medium" pitchFamily="34" charset="-122"/>
                <a:cs typeface="Azeret Mono Medium" pitchFamily="34" charset="-120"/>
              </a:rPr>
              <a:t>AI ADVERTISING CREATIVE STUDIO</a:t>
            </a:r>
            <a:endParaRPr lang="en-US" sz="1200" dirty="0"/>
          </a:p>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R. RAMYASREE · J. NEHA · P. CHARISHMA · Y. KOWSHIK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1819626"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268679"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01 · THE PROBLEM</a:t>
            </a:r>
            <a:endParaRPr lang="en-US" sz="1150" dirty="0"/>
          </a:p>
        </p:txBody>
      </p:sp>
      <p:sp>
        <p:nvSpPr>
          <p:cNvPr id="5" name="Text 3"/>
          <p:cNvSpPr/>
          <p:nvPr/>
        </p:nvSpPr>
        <p:spPr>
          <a:xfrm>
            <a:off x="2435561" y="540048"/>
            <a:ext cx="1646593"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ADFORGE AI</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Creating effective ads is still too slow and expensive</a:t>
            </a:r>
            <a:endParaRPr lang="en-US" sz="3200" dirty="0"/>
          </a:p>
        </p:txBody>
      </p:sp>
      <p:sp>
        <p:nvSpPr>
          <p:cNvPr id="7" name="Text 5"/>
          <p:cNvSpPr/>
          <p:nvPr/>
        </p:nvSpPr>
        <p:spPr>
          <a:xfrm>
            <a:off x="507987" y="1899543"/>
            <a:ext cx="5435464" cy="1867297"/>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D6DEEC"/>
                </a:solidFill>
                <a:latin typeface="Mona Sans" pitchFamily="34" charset="0"/>
                <a:ea typeface="Mona Sans" pitchFamily="34" charset="-122"/>
                <a:cs typeface="Mona Sans" pitchFamily="34" charset="-120"/>
              </a:rPr>
              <a:t>Small businesses, startups, e-commerce sellers, marketing teams, and individual creators face repetitive creative work.</a:t>
            </a:r>
            <a:endParaRPr lang="en-US" sz="1700" dirty="0"/>
          </a:p>
          <a:p>
            <a:pPr algn="l" marL="345440" indent="-345440">
              <a:lnSpc>
                <a:spcPct val="117000"/>
              </a:lnSpc>
              <a:buSzPct val="100000"/>
              <a:buChar char="•"/>
            </a:pPr>
            <a:r>
              <a:rPr lang="en-US" sz="1700" dirty="0">
                <a:solidFill>
                  <a:srgbClr val="D6DEEC"/>
                </a:solidFill>
                <a:latin typeface="Mona Sans" pitchFamily="34" charset="0"/>
                <a:ea typeface="Mona Sans" pitchFamily="34" charset="-122"/>
                <a:cs typeface="Mona Sans" pitchFamily="34" charset="-120"/>
              </a:rPr>
              <a:t>Copy, creative design, platform formats, revisions, and brand consistency slow the path from idea to campaign.</a:t>
            </a:r>
            <a:endParaRPr lang="en-US" sz="1700" dirty="0"/>
          </a:p>
        </p:txBody>
      </p:sp>
      <p:pic>
        <p:nvPicPr>
          <p:cNvPr id="8" name="Image 0" descr="preencoded.png">    </p:cNvPr>
          <p:cNvPicPr>
            <a:picLocks noChangeAspect="1"/>
          </p:cNvPicPr>
          <p:nvPr/>
        </p:nvPicPr>
        <p:blipFill>
          <a:blip r:embed="rId1"/>
          <a:stretch>
            <a:fillRect/>
          </a:stretch>
        </p:blipFill>
        <p:spPr>
          <a:xfrm>
            <a:off x="6248244" y="1670943"/>
            <a:ext cx="5435464" cy="3080147"/>
          </a:xfrm>
          <a:prstGeom prst="rect">
            <a:avLst/>
          </a:prstGeom>
        </p:spPr>
      </p:pic>
      <p:sp>
        <p:nvSpPr>
          <p:cNvPr id="9" name="Text 6"/>
          <p:cNvSpPr/>
          <p:nvPr/>
        </p:nvSpPr>
        <p:spPr>
          <a:xfrm>
            <a:off x="507987" y="6047780"/>
            <a:ext cx="11683708"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Product idea → Copywriter → Designer → Revisions → Platform formatting → Final advertisement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1923407"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372459"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02 · THE SOLUTION</a:t>
            </a:r>
            <a:endParaRPr lang="en-US" sz="1150" dirty="0"/>
          </a:p>
        </p:txBody>
      </p:sp>
      <p:sp>
        <p:nvSpPr>
          <p:cNvPr id="5" name="Text 3"/>
          <p:cNvSpPr/>
          <p:nvPr/>
        </p:nvSpPr>
        <p:spPr>
          <a:xfrm>
            <a:off x="2539341" y="540048"/>
            <a:ext cx="1646593"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ADFORGE AI</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Meet AdForge AI</a:t>
            </a:r>
            <a:endParaRPr lang="en-US" sz="3200" dirty="0"/>
          </a:p>
        </p:txBody>
      </p:sp>
      <p:sp>
        <p:nvSpPr>
          <p:cNvPr id="7" name="Text 5"/>
          <p:cNvSpPr/>
          <p:nvPr/>
        </p:nvSpPr>
        <p:spPr>
          <a:xfrm>
            <a:off x="507987" y="1899543"/>
            <a:ext cx="8696802"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INPUT</a:t>
            </a:r>
            <a:endParaRPr lang="en-US" sz="1200" dirty="0"/>
          </a:p>
        </p:txBody>
      </p:sp>
      <p:sp>
        <p:nvSpPr>
          <p:cNvPr id="8" name="Text 6"/>
          <p:cNvSpPr/>
          <p:nvPr/>
        </p:nvSpPr>
        <p:spPr>
          <a:xfrm>
            <a:off x="507987" y="2224584"/>
            <a:ext cx="8696802"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Product + audience + platform + objective + tone</a:t>
            </a:r>
            <a:endParaRPr lang="en-US" sz="1700" dirty="0"/>
          </a:p>
        </p:txBody>
      </p:sp>
      <p:pic>
        <p:nvPicPr>
          <p:cNvPr id="9" name="Image 0" descr="preencoded.png">    </p:cNvPr>
          <p:cNvPicPr>
            <a:picLocks noChangeAspect="1"/>
          </p:cNvPicPr>
          <p:nvPr/>
        </p:nvPicPr>
        <p:blipFill>
          <a:blip r:embed="rId1"/>
          <a:stretch>
            <a:fillRect/>
          </a:stretch>
        </p:blipFill>
        <p:spPr>
          <a:xfrm>
            <a:off x="507987" y="2653804"/>
            <a:ext cx="215895" cy="215900"/>
          </a:xfrm>
          <a:prstGeom prst="rect">
            <a:avLst/>
          </a:prstGeom>
        </p:spPr>
      </p:pic>
      <p:sp>
        <p:nvSpPr>
          <p:cNvPr id="10" name="Text 7"/>
          <p:cNvSpPr/>
          <p:nvPr/>
        </p:nvSpPr>
        <p:spPr>
          <a:xfrm>
            <a:off x="507987" y="3029049"/>
            <a:ext cx="8696802"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ENGINE</a:t>
            </a:r>
            <a:endParaRPr lang="en-US" sz="1200" dirty="0"/>
          </a:p>
        </p:txBody>
      </p:sp>
      <p:sp>
        <p:nvSpPr>
          <p:cNvPr id="11" name="Text 8"/>
          <p:cNvSpPr/>
          <p:nvPr/>
        </p:nvSpPr>
        <p:spPr>
          <a:xfrm>
            <a:off x="507987" y="3420765"/>
            <a:ext cx="8696802" cy="363141"/>
          </a:xfrm>
          <a:prstGeom prst="rect">
            <a:avLst/>
          </a:prstGeom>
          <a:noFill/>
          <a:ln/>
        </p:spPr>
        <p:txBody>
          <a:bodyPr wrap="none" lIns="0" tIns="0" rIns="0" bIns="0" rtlCol="0" anchor="t"/>
          <a:lstStyle/>
          <a:p>
            <a:pPr algn="l" indent="0" marL="0">
              <a:lnSpc>
                <a:spcPct val="108000"/>
              </a:lnSpc>
              <a:buNone/>
            </a:pPr>
            <a:r>
              <a:rPr lang="en-US" sz="2200" dirty="0">
                <a:solidFill>
                  <a:srgbClr val="FFFFFF"/>
                </a:solidFill>
                <a:latin typeface="Mona Sans" pitchFamily="34" charset="0"/>
                <a:ea typeface="Mona Sans" pitchFamily="34" charset="-122"/>
                <a:cs typeface="Mona Sans" pitchFamily="34" charset="-120"/>
              </a:rPr>
              <a:t>AdForge AI creative workflow</a:t>
            </a:r>
            <a:endParaRPr lang="en-US" sz="2200" dirty="0"/>
          </a:p>
        </p:txBody>
      </p:sp>
      <p:sp>
        <p:nvSpPr>
          <p:cNvPr id="12" name="Text 9"/>
          <p:cNvSpPr/>
          <p:nvPr/>
        </p:nvSpPr>
        <p:spPr>
          <a:xfrm>
            <a:off x="507987" y="3939480"/>
            <a:ext cx="8696802"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Turn a product brief into advertising copy and platform-ready creative variations.</a:t>
            </a:r>
            <a:endParaRPr lang="en-US" sz="1700" dirty="0"/>
          </a:p>
        </p:txBody>
      </p:sp>
      <p:pic>
        <p:nvPicPr>
          <p:cNvPr id="13" name="Image 1" descr="preencoded.png">    </p:cNvPr>
          <p:cNvPicPr>
            <a:picLocks noChangeAspect="1"/>
          </p:cNvPicPr>
          <p:nvPr/>
        </p:nvPicPr>
        <p:blipFill>
          <a:blip r:embed="rId2"/>
          <a:stretch>
            <a:fillRect/>
          </a:stretch>
        </p:blipFill>
        <p:spPr>
          <a:xfrm>
            <a:off x="507987" y="4368701"/>
            <a:ext cx="215895" cy="215900"/>
          </a:xfrm>
          <a:prstGeom prst="rect">
            <a:avLst/>
          </a:prstGeom>
        </p:spPr>
      </p:pic>
      <p:pic>
        <p:nvPicPr>
          <p:cNvPr id="14" name="Image 2" descr="preencoded.png">    </p:cNvPr>
          <p:cNvPicPr>
            <a:picLocks noChangeAspect="1"/>
          </p:cNvPicPr>
          <p:nvPr/>
        </p:nvPicPr>
        <p:blipFill>
          <a:blip r:embed="rId3"/>
          <a:stretch>
            <a:fillRect/>
          </a:stretch>
        </p:blipFill>
        <p:spPr>
          <a:xfrm>
            <a:off x="9509482" y="1670943"/>
            <a:ext cx="2174225" cy="3273227"/>
          </a:xfrm>
          <a:prstGeom prst="rect">
            <a:avLst/>
          </a:prstGeom>
        </p:spPr>
      </p:pic>
      <p:sp>
        <p:nvSpPr>
          <p:cNvPr id="15" name="Shape 10"/>
          <p:cNvSpPr/>
          <p:nvPr/>
        </p:nvSpPr>
        <p:spPr>
          <a:xfrm>
            <a:off x="507987" y="5137845"/>
            <a:ext cx="5435464" cy="1212155"/>
          </a:xfrm>
          <a:prstGeom prst="roundRect">
            <a:avLst>
              <a:gd name="adj" fmla="val 7481"/>
            </a:avLst>
          </a:prstGeom>
          <a:solidFill>
            <a:srgbClr val="002980"/>
          </a:solidFill>
          <a:ln/>
        </p:spPr>
      </p:sp>
      <p:sp>
        <p:nvSpPr>
          <p:cNvPr id="16" name="Text 11"/>
          <p:cNvSpPr/>
          <p:nvPr/>
        </p:nvSpPr>
        <p:spPr>
          <a:xfrm>
            <a:off x="736582" y="5366445"/>
            <a:ext cx="4978275"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Headlines</a:t>
            </a:r>
            <a:endParaRPr lang="en-US" sz="1800" dirty="0"/>
          </a:p>
        </p:txBody>
      </p:sp>
      <p:sp>
        <p:nvSpPr>
          <p:cNvPr id="17" name="Text 12"/>
          <p:cNvSpPr/>
          <p:nvPr/>
        </p:nvSpPr>
        <p:spPr>
          <a:xfrm>
            <a:off x="736582" y="5819180"/>
            <a:ext cx="5206870"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Ad copy · CTAs · hashtags</a:t>
            </a:r>
            <a:endParaRPr lang="en-US" sz="1700" dirty="0"/>
          </a:p>
        </p:txBody>
      </p:sp>
      <p:sp>
        <p:nvSpPr>
          <p:cNvPr id="18" name="Shape 13"/>
          <p:cNvSpPr/>
          <p:nvPr/>
        </p:nvSpPr>
        <p:spPr>
          <a:xfrm>
            <a:off x="6248244" y="5137845"/>
            <a:ext cx="5435464" cy="1212155"/>
          </a:xfrm>
          <a:prstGeom prst="roundRect">
            <a:avLst>
              <a:gd name="adj" fmla="val 7481"/>
            </a:avLst>
          </a:prstGeom>
          <a:solidFill>
            <a:srgbClr val="002980"/>
          </a:solidFill>
          <a:ln/>
        </p:spPr>
      </p:sp>
      <p:sp>
        <p:nvSpPr>
          <p:cNvPr id="19" name="Text 14"/>
          <p:cNvSpPr/>
          <p:nvPr/>
        </p:nvSpPr>
        <p:spPr>
          <a:xfrm>
            <a:off x="6476838" y="5366445"/>
            <a:ext cx="4978275"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Visual creative</a:t>
            </a:r>
            <a:endParaRPr lang="en-US" sz="1800" dirty="0"/>
          </a:p>
        </p:txBody>
      </p:sp>
      <p:sp>
        <p:nvSpPr>
          <p:cNvPr id="20" name="Text 15"/>
          <p:cNvSpPr/>
          <p:nvPr/>
        </p:nvSpPr>
        <p:spPr>
          <a:xfrm>
            <a:off x="6476838" y="5819180"/>
            <a:ext cx="5206870"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Platform-specific variations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1923407"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372459"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03 · TARGET USERS</a:t>
            </a:r>
            <a:endParaRPr lang="en-US" sz="1150" dirty="0"/>
          </a:p>
        </p:txBody>
      </p:sp>
      <p:sp>
        <p:nvSpPr>
          <p:cNvPr id="5" name="Text 3"/>
          <p:cNvSpPr/>
          <p:nvPr/>
        </p:nvSpPr>
        <p:spPr>
          <a:xfrm>
            <a:off x="2539341" y="540048"/>
            <a:ext cx="1646593"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ADFORGE AI</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Target Users &amp; Use Cases</a:t>
            </a:r>
            <a:endParaRPr lang="en-US" sz="3200" dirty="0"/>
          </a:p>
        </p:txBody>
      </p:sp>
      <p:sp>
        <p:nvSpPr>
          <p:cNvPr id="7" name="Shape 5"/>
          <p:cNvSpPr/>
          <p:nvPr/>
        </p:nvSpPr>
        <p:spPr>
          <a:xfrm>
            <a:off x="507987" y="1670943"/>
            <a:ext cx="5435464" cy="4679057"/>
          </a:xfrm>
          <a:prstGeom prst="roundRect">
            <a:avLst>
              <a:gd name="adj" fmla="val 1938"/>
            </a:avLst>
          </a:prstGeom>
          <a:solidFill>
            <a:srgbClr val="0A1633"/>
          </a:solidFill>
          <a:ln/>
        </p:spPr>
      </p:sp>
      <p:sp>
        <p:nvSpPr>
          <p:cNvPr id="8" name="Text 6"/>
          <p:cNvSpPr/>
          <p:nvPr/>
        </p:nvSpPr>
        <p:spPr>
          <a:xfrm>
            <a:off x="736582" y="1899543"/>
            <a:ext cx="5206870"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TARGET USERS</a:t>
            </a:r>
            <a:endParaRPr lang="en-US" sz="1200" dirty="0"/>
          </a:p>
        </p:txBody>
      </p:sp>
      <p:sp>
        <p:nvSpPr>
          <p:cNvPr id="9" name="Text 7"/>
          <p:cNvSpPr/>
          <p:nvPr/>
        </p:nvSpPr>
        <p:spPr>
          <a:xfrm>
            <a:off x="736582" y="2224584"/>
            <a:ext cx="4978275" cy="1727002"/>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Small businesses and startups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E-commerce sellers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Digital marketers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Social media creators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Marketing teams</a:t>
            </a:r>
            <a:endParaRPr lang="en-US" sz="1700" dirty="0"/>
          </a:p>
        </p:txBody>
      </p:sp>
      <p:sp>
        <p:nvSpPr>
          <p:cNvPr id="10" name="Shape 8"/>
          <p:cNvSpPr/>
          <p:nvPr/>
        </p:nvSpPr>
        <p:spPr>
          <a:xfrm>
            <a:off x="6248244" y="1670943"/>
            <a:ext cx="5435464" cy="4679057"/>
          </a:xfrm>
          <a:prstGeom prst="roundRect">
            <a:avLst>
              <a:gd name="adj" fmla="val 1938"/>
            </a:avLst>
          </a:prstGeom>
          <a:solidFill>
            <a:srgbClr val="0A1633"/>
          </a:solidFill>
          <a:ln/>
        </p:spPr>
      </p:sp>
      <p:sp>
        <p:nvSpPr>
          <p:cNvPr id="11" name="Text 9"/>
          <p:cNvSpPr/>
          <p:nvPr/>
        </p:nvSpPr>
        <p:spPr>
          <a:xfrm>
            <a:off x="6476838" y="1899543"/>
            <a:ext cx="5206870"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USE CASES</a:t>
            </a:r>
            <a:endParaRPr lang="en-US" sz="1200" dirty="0"/>
          </a:p>
        </p:txBody>
      </p:sp>
      <p:sp>
        <p:nvSpPr>
          <p:cNvPr id="12" name="Text 10"/>
          <p:cNvSpPr/>
          <p:nvPr/>
        </p:nvSpPr>
        <p:spPr>
          <a:xfrm>
            <a:off x="6476838" y="2224584"/>
            <a:ext cx="4978275" cy="2029222"/>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Launching a new product</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Promotional and discount ads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Social media advertisements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Generating multiple ad variations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Adapting content for different advertising platforms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2130769"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579821"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04 · THE EXPERIENCE</a:t>
            </a:r>
            <a:endParaRPr lang="en-US" sz="1150" dirty="0"/>
          </a:p>
        </p:txBody>
      </p:sp>
      <p:sp>
        <p:nvSpPr>
          <p:cNvPr id="5" name="Text 3"/>
          <p:cNvSpPr/>
          <p:nvPr/>
        </p:nvSpPr>
        <p:spPr>
          <a:xfrm>
            <a:off x="2746703" y="540048"/>
            <a:ext cx="2683502"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CREATE IN FIVE MOVES</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From product idea to advertisement</a:t>
            </a:r>
            <a:endParaRPr lang="en-US" sz="3200" dirty="0"/>
          </a:p>
        </p:txBody>
      </p:sp>
      <p:sp>
        <p:nvSpPr>
          <p:cNvPr id="7" name="Shape 5"/>
          <p:cNvSpPr/>
          <p:nvPr/>
        </p:nvSpPr>
        <p:spPr>
          <a:xfrm>
            <a:off x="507987" y="1670943"/>
            <a:ext cx="3572778" cy="2187079"/>
          </a:xfrm>
          <a:prstGeom prst="rect">
            <a:avLst/>
          </a:prstGeom>
          <a:solidFill>
            <a:srgbClr val="0A1633"/>
          </a:solidFill>
          <a:ln/>
        </p:spPr>
      </p:sp>
      <p:sp>
        <p:nvSpPr>
          <p:cNvPr id="8" name="Text 6"/>
          <p:cNvSpPr/>
          <p:nvPr/>
        </p:nvSpPr>
        <p:spPr>
          <a:xfrm>
            <a:off x="736582" y="1899543"/>
            <a:ext cx="82944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Mona Sans SemiBold" pitchFamily="34" charset="0"/>
                <a:ea typeface="Mona Sans SemiBold" pitchFamily="34" charset="-122"/>
                <a:cs typeface="Mona Sans SemiBold" pitchFamily="34" charset="-120"/>
              </a:rPr>
              <a:t>01</a:t>
            </a:r>
            <a:endParaRPr lang="en-US" sz="1700" dirty="0"/>
          </a:p>
        </p:txBody>
      </p:sp>
      <p:sp>
        <p:nvSpPr>
          <p:cNvPr id="9" name="Shape 7"/>
          <p:cNvSpPr/>
          <p:nvPr/>
        </p:nvSpPr>
        <p:spPr>
          <a:xfrm>
            <a:off x="736582" y="2201763"/>
            <a:ext cx="3115490" cy="19050"/>
          </a:xfrm>
          <a:prstGeom prst="rect">
            <a:avLst/>
          </a:prstGeom>
          <a:solidFill>
            <a:srgbClr val="3D7BFF"/>
          </a:solidFill>
          <a:ln/>
        </p:spPr>
      </p:sp>
      <p:sp>
        <p:nvSpPr>
          <p:cNvPr id="10" name="Text 8"/>
          <p:cNvSpPr/>
          <p:nvPr/>
        </p:nvSpPr>
        <p:spPr>
          <a:xfrm>
            <a:off x="736582" y="2350294"/>
            <a:ext cx="3115589"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Enter</a:t>
            </a:r>
            <a:endParaRPr lang="en-US" sz="1800" dirty="0"/>
          </a:p>
        </p:txBody>
      </p:sp>
      <p:sp>
        <p:nvSpPr>
          <p:cNvPr id="11" name="Text 9"/>
          <p:cNvSpPr/>
          <p:nvPr/>
        </p:nvSpPr>
        <p:spPr>
          <a:xfrm>
            <a:off x="736582" y="2803029"/>
            <a:ext cx="3115589"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Product details: name, description, target audience.</a:t>
            </a:r>
            <a:endParaRPr lang="en-US" sz="1500" dirty="0"/>
          </a:p>
        </p:txBody>
      </p:sp>
      <p:sp>
        <p:nvSpPr>
          <p:cNvPr id="12" name="Shape 10"/>
          <p:cNvSpPr/>
          <p:nvPr/>
        </p:nvSpPr>
        <p:spPr>
          <a:xfrm>
            <a:off x="4385557" y="1670943"/>
            <a:ext cx="3471280" cy="2187079"/>
          </a:xfrm>
          <a:prstGeom prst="rect">
            <a:avLst/>
          </a:prstGeom>
          <a:solidFill>
            <a:srgbClr val="0A1633"/>
          </a:solidFill>
          <a:ln/>
        </p:spPr>
      </p:sp>
      <p:sp>
        <p:nvSpPr>
          <p:cNvPr id="13" name="Text 11"/>
          <p:cNvSpPr/>
          <p:nvPr/>
        </p:nvSpPr>
        <p:spPr>
          <a:xfrm>
            <a:off x="4614152" y="1899543"/>
            <a:ext cx="865265"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Mona Sans SemiBold" pitchFamily="34" charset="0"/>
                <a:ea typeface="Mona Sans SemiBold" pitchFamily="34" charset="-122"/>
                <a:cs typeface="Mona Sans SemiBold" pitchFamily="34" charset="-120"/>
              </a:rPr>
              <a:t>02</a:t>
            </a:r>
            <a:endParaRPr lang="en-US" sz="1700" dirty="0"/>
          </a:p>
        </p:txBody>
      </p:sp>
      <p:sp>
        <p:nvSpPr>
          <p:cNvPr id="14" name="Shape 12"/>
          <p:cNvSpPr/>
          <p:nvPr/>
        </p:nvSpPr>
        <p:spPr>
          <a:xfrm>
            <a:off x="4614152" y="2201763"/>
            <a:ext cx="3014091" cy="19050"/>
          </a:xfrm>
          <a:prstGeom prst="rect">
            <a:avLst/>
          </a:prstGeom>
          <a:solidFill>
            <a:srgbClr val="3D7BFF"/>
          </a:solidFill>
          <a:ln/>
        </p:spPr>
      </p:sp>
      <p:sp>
        <p:nvSpPr>
          <p:cNvPr id="15" name="Text 13"/>
          <p:cNvSpPr/>
          <p:nvPr/>
        </p:nvSpPr>
        <p:spPr>
          <a:xfrm>
            <a:off x="4614152" y="2350294"/>
            <a:ext cx="3014091"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Select</a:t>
            </a:r>
            <a:endParaRPr lang="en-US" sz="1800" dirty="0"/>
          </a:p>
        </p:txBody>
      </p:sp>
      <p:sp>
        <p:nvSpPr>
          <p:cNvPr id="16" name="Text 14"/>
          <p:cNvSpPr/>
          <p:nvPr/>
        </p:nvSpPr>
        <p:spPr>
          <a:xfrm>
            <a:off x="4614152" y="2803029"/>
            <a:ext cx="3014091"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Campaign: platform, objective, tone.</a:t>
            </a:r>
            <a:endParaRPr lang="en-US" sz="1500" dirty="0"/>
          </a:p>
        </p:txBody>
      </p:sp>
      <p:sp>
        <p:nvSpPr>
          <p:cNvPr id="17" name="Shape 15"/>
          <p:cNvSpPr/>
          <p:nvPr/>
        </p:nvSpPr>
        <p:spPr>
          <a:xfrm>
            <a:off x="8161629" y="1670943"/>
            <a:ext cx="3522078" cy="2187079"/>
          </a:xfrm>
          <a:prstGeom prst="rect">
            <a:avLst/>
          </a:prstGeom>
          <a:solidFill>
            <a:srgbClr val="0A1633"/>
          </a:solidFill>
          <a:ln/>
        </p:spPr>
      </p:sp>
      <p:sp>
        <p:nvSpPr>
          <p:cNvPr id="18" name="Text 16"/>
          <p:cNvSpPr/>
          <p:nvPr/>
        </p:nvSpPr>
        <p:spPr>
          <a:xfrm>
            <a:off x="8390224" y="1899543"/>
            <a:ext cx="869531"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Mona Sans SemiBold" pitchFamily="34" charset="0"/>
                <a:ea typeface="Mona Sans SemiBold" pitchFamily="34" charset="-122"/>
                <a:cs typeface="Mona Sans SemiBold" pitchFamily="34" charset="-120"/>
              </a:rPr>
              <a:t>03</a:t>
            </a:r>
            <a:endParaRPr lang="en-US" sz="1700" dirty="0"/>
          </a:p>
        </p:txBody>
      </p:sp>
      <p:sp>
        <p:nvSpPr>
          <p:cNvPr id="19" name="Shape 17"/>
          <p:cNvSpPr/>
          <p:nvPr/>
        </p:nvSpPr>
        <p:spPr>
          <a:xfrm>
            <a:off x="8390224" y="2201763"/>
            <a:ext cx="3064791" cy="19050"/>
          </a:xfrm>
          <a:prstGeom prst="rect">
            <a:avLst/>
          </a:prstGeom>
          <a:solidFill>
            <a:srgbClr val="3D7BFF"/>
          </a:solidFill>
          <a:ln/>
        </p:spPr>
      </p:sp>
      <p:sp>
        <p:nvSpPr>
          <p:cNvPr id="20" name="Text 18"/>
          <p:cNvSpPr/>
          <p:nvPr/>
        </p:nvSpPr>
        <p:spPr>
          <a:xfrm>
            <a:off x="8390224" y="2350294"/>
            <a:ext cx="306489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Generate</a:t>
            </a:r>
            <a:endParaRPr lang="en-US" sz="1800" dirty="0"/>
          </a:p>
        </p:txBody>
      </p:sp>
      <p:sp>
        <p:nvSpPr>
          <p:cNvPr id="21" name="Text 19"/>
          <p:cNvSpPr/>
          <p:nvPr/>
        </p:nvSpPr>
        <p:spPr>
          <a:xfrm>
            <a:off x="8390224" y="2803029"/>
            <a:ext cx="3064890"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Headlines, ad copy, CTAs, hashtags, and creative concepts.</a:t>
            </a:r>
            <a:endParaRPr lang="en-US" sz="1500" dirty="0"/>
          </a:p>
        </p:txBody>
      </p:sp>
      <p:sp>
        <p:nvSpPr>
          <p:cNvPr id="22" name="Shape 20"/>
          <p:cNvSpPr/>
          <p:nvPr/>
        </p:nvSpPr>
        <p:spPr>
          <a:xfrm>
            <a:off x="507987" y="4162822"/>
            <a:ext cx="3572778" cy="2187178"/>
          </a:xfrm>
          <a:prstGeom prst="rect">
            <a:avLst/>
          </a:prstGeom>
          <a:solidFill>
            <a:srgbClr val="0A1633"/>
          </a:solidFill>
          <a:ln/>
        </p:spPr>
      </p:sp>
      <p:sp>
        <p:nvSpPr>
          <p:cNvPr id="23" name="Text 21"/>
          <p:cNvSpPr/>
          <p:nvPr/>
        </p:nvSpPr>
        <p:spPr>
          <a:xfrm>
            <a:off x="736582" y="4391422"/>
            <a:ext cx="883819"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Mona Sans SemiBold" pitchFamily="34" charset="0"/>
                <a:ea typeface="Mona Sans SemiBold" pitchFamily="34" charset="-122"/>
                <a:cs typeface="Mona Sans SemiBold" pitchFamily="34" charset="-120"/>
              </a:rPr>
              <a:t>04</a:t>
            </a:r>
            <a:endParaRPr lang="en-US" sz="1700" dirty="0"/>
          </a:p>
        </p:txBody>
      </p:sp>
      <p:sp>
        <p:nvSpPr>
          <p:cNvPr id="24" name="Shape 22"/>
          <p:cNvSpPr/>
          <p:nvPr/>
        </p:nvSpPr>
        <p:spPr>
          <a:xfrm>
            <a:off x="736582" y="4693642"/>
            <a:ext cx="3115490" cy="19050"/>
          </a:xfrm>
          <a:prstGeom prst="rect">
            <a:avLst/>
          </a:prstGeom>
          <a:solidFill>
            <a:srgbClr val="3D7BFF"/>
          </a:solidFill>
          <a:ln/>
        </p:spPr>
      </p:sp>
      <p:sp>
        <p:nvSpPr>
          <p:cNvPr id="25" name="Text 23"/>
          <p:cNvSpPr/>
          <p:nvPr/>
        </p:nvSpPr>
        <p:spPr>
          <a:xfrm>
            <a:off x="736582" y="4842173"/>
            <a:ext cx="3115589"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Preview</a:t>
            </a:r>
            <a:endParaRPr lang="en-US" sz="1800" dirty="0"/>
          </a:p>
        </p:txBody>
      </p:sp>
      <p:sp>
        <p:nvSpPr>
          <p:cNvPr id="26" name="Text 24"/>
          <p:cNvSpPr/>
          <p:nvPr/>
        </p:nvSpPr>
        <p:spPr>
          <a:xfrm>
            <a:off x="736582" y="5294908"/>
            <a:ext cx="3115589"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Review platform-specific ad variations.</a:t>
            </a:r>
            <a:endParaRPr lang="en-US" sz="1500" dirty="0"/>
          </a:p>
        </p:txBody>
      </p:sp>
      <p:sp>
        <p:nvSpPr>
          <p:cNvPr id="27" name="Shape 25"/>
          <p:cNvSpPr/>
          <p:nvPr/>
        </p:nvSpPr>
        <p:spPr>
          <a:xfrm>
            <a:off x="4385557" y="4162822"/>
            <a:ext cx="7298150" cy="2187178"/>
          </a:xfrm>
          <a:prstGeom prst="rect">
            <a:avLst/>
          </a:prstGeom>
          <a:solidFill>
            <a:srgbClr val="0A1633"/>
          </a:solidFill>
          <a:ln/>
        </p:spPr>
      </p:sp>
      <p:sp>
        <p:nvSpPr>
          <p:cNvPr id="28" name="Text 26"/>
          <p:cNvSpPr/>
          <p:nvPr/>
        </p:nvSpPr>
        <p:spPr>
          <a:xfrm>
            <a:off x="4614152" y="4391422"/>
            <a:ext cx="87369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Mona Sans SemiBold" pitchFamily="34" charset="0"/>
                <a:ea typeface="Mona Sans SemiBold" pitchFamily="34" charset="-122"/>
                <a:cs typeface="Mona Sans SemiBold" pitchFamily="34" charset="-120"/>
              </a:rPr>
              <a:t>05</a:t>
            </a:r>
            <a:endParaRPr lang="en-US" sz="1700" dirty="0"/>
          </a:p>
        </p:txBody>
      </p:sp>
      <p:sp>
        <p:nvSpPr>
          <p:cNvPr id="29" name="Shape 27"/>
          <p:cNvSpPr/>
          <p:nvPr/>
        </p:nvSpPr>
        <p:spPr>
          <a:xfrm>
            <a:off x="4614152" y="4693642"/>
            <a:ext cx="6840862" cy="19050"/>
          </a:xfrm>
          <a:prstGeom prst="rect">
            <a:avLst/>
          </a:prstGeom>
          <a:solidFill>
            <a:srgbClr val="3D7BFF"/>
          </a:solidFill>
          <a:ln/>
        </p:spPr>
      </p:sp>
      <p:sp>
        <p:nvSpPr>
          <p:cNvPr id="30" name="Text 28"/>
          <p:cNvSpPr/>
          <p:nvPr/>
        </p:nvSpPr>
        <p:spPr>
          <a:xfrm>
            <a:off x="4614152" y="4842173"/>
            <a:ext cx="6840962"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Save &amp; publish</a:t>
            </a:r>
            <a:endParaRPr lang="en-US" sz="1800" dirty="0"/>
          </a:p>
        </p:txBody>
      </p:sp>
      <p:sp>
        <p:nvSpPr>
          <p:cNvPr id="31" name="Text 29"/>
          <p:cNvSpPr/>
          <p:nvPr/>
        </p:nvSpPr>
        <p:spPr>
          <a:xfrm>
            <a:off x="4614152" y="5294908"/>
            <a:ext cx="7069556" cy="266700"/>
          </a:xfrm>
          <a:prstGeom prst="rect">
            <a:avLst/>
          </a:prstGeom>
          <a:noFill/>
          <a:ln/>
        </p:spPr>
        <p:txBody>
          <a:bodyPr wrap="none" lIns="0" tIns="0" rIns="0" bIns="0" rtlCol="0" anchor="t"/>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Download and reuse generated creatives.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1819626"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268679"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05 · THE PRODUCT</a:t>
            </a:r>
            <a:endParaRPr lang="en-US" sz="1150" dirty="0"/>
          </a:p>
        </p:txBody>
      </p:sp>
      <p:sp>
        <p:nvSpPr>
          <p:cNvPr id="5" name="Text 3"/>
          <p:cNvSpPr/>
          <p:nvPr/>
        </p:nvSpPr>
        <p:spPr>
          <a:xfrm>
            <a:off x="2435561" y="540048"/>
            <a:ext cx="1646593"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ADFORGE AI</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AdForge AI tools for faster ad creation</a:t>
            </a:r>
            <a:endParaRPr lang="en-US" sz="3200" dirty="0"/>
          </a:p>
        </p:txBody>
      </p:sp>
      <p:sp>
        <p:nvSpPr>
          <p:cNvPr id="7" name="Shape 5"/>
          <p:cNvSpPr/>
          <p:nvPr/>
        </p:nvSpPr>
        <p:spPr>
          <a:xfrm>
            <a:off x="507987" y="1670943"/>
            <a:ext cx="3572778" cy="2187079"/>
          </a:xfrm>
          <a:prstGeom prst="roundRect">
            <a:avLst>
              <a:gd name="adj" fmla="val 4146"/>
            </a:avLst>
          </a:prstGeom>
          <a:solidFill>
            <a:srgbClr val="0A1633"/>
          </a:solidFill>
          <a:ln/>
        </p:spPr>
      </p:sp>
      <p:sp>
        <p:nvSpPr>
          <p:cNvPr id="8" name="Shape 6"/>
          <p:cNvSpPr/>
          <p:nvPr/>
        </p:nvSpPr>
        <p:spPr>
          <a:xfrm>
            <a:off x="736582" y="1899543"/>
            <a:ext cx="539736" cy="539750"/>
          </a:xfrm>
          <a:prstGeom prst="ellipse">
            <a:avLst/>
          </a:prstGeom>
          <a:solidFill>
            <a:srgbClr val="3D7BFF"/>
          </a:solidFill>
          <a:ln/>
        </p:spPr>
      </p:sp>
      <p:pic>
        <p:nvPicPr>
          <p:cNvPr id="9" name="Image 0" descr="preencoded.png">    </p:cNvPr>
          <p:cNvPicPr>
            <a:picLocks noChangeAspect="1"/>
          </p:cNvPicPr>
          <p:nvPr/>
        </p:nvPicPr>
        <p:blipFill>
          <a:blip r:embed="rId1"/>
          <a:stretch>
            <a:fillRect/>
          </a:stretch>
        </p:blipFill>
        <p:spPr>
          <a:xfrm>
            <a:off x="898503" y="2061468"/>
            <a:ext cx="215895" cy="215900"/>
          </a:xfrm>
          <a:prstGeom prst="rect">
            <a:avLst/>
          </a:prstGeom>
        </p:spPr>
      </p:pic>
      <p:sp>
        <p:nvSpPr>
          <p:cNvPr id="10" name="Text 7"/>
          <p:cNvSpPr/>
          <p:nvPr/>
        </p:nvSpPr>
        <p:spPr>
          <a:xfrm>
            <a:off x="736582" y="2566293"/>
            <a:ext cx="3115589"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Ad creative generation</a:t>
            </a:r>
            <a:endParaRPr lang="en-US" sz="1800" dirty="0"/>
          </a:p>
        </p:txBody>
      </p:sp>
      <p:sp>
        <p:nvSpPr>
          <p:cNvPr id="11" name="Text 8"/>
          <p:cNvSpPr/>
          <p:nvPr/>
        </p:nvSpPr>
        <p:spPr>
          <a:xfrm>
            <a:off x="736582" y="3019028"/>
            <a:ext cx="3115589"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Headlines, copy, CTAs, hashtags, and creative variations.</a:t>
            </a:r>
            <a:endParaRPr lang="en-US" sz="1500" dirty="0"/>
          </a:p>
        </p:txBody>
      </p:sp>
      <p:sp>
        <p:nvSpPr>
          <p:cNvPr id="12" name="Shape 9"/>
          <p:cNvSpPr/>
          <p:nvPr/>
        </p:nvSpPr>
        <p:spPr>
          <a:xfrm>
            <a:off x="4385557" y="1670943"/>
            <a:ext cx="3471280" cy="2187079"/>
          </a:xfrm>
          <a:prstGeom prst="roundRect">
            <a:avLst>
              <a:gd name="adj" fmla="val 4146"/>
            </a:avLst>
          </a:prstGeom>
          <a:solidFill>
            <a:srgbClr val="0A1633"/>
          </a:solidFill>
          <a:ln/>
        </p:spPr>
      </p:sp>
      <p:sp>
        <p:nvSpPr>
          <p:cNvPr id="13" name="Shape 10"/>
          <p:cNvSpPr/>
          <p:nvPr/>
        </p:nvSpPr>
        <p:spPr>
          <a:xfrm>
            <a:off x="4614152" y="1899543"/>
            <a:ext cx="539736" cy="539750"/>
          </a:xfrm>
          <a:prstGeom prst="ellipse">
            <a:avLst/>
          </a:prstGeom>
          <a:solidFill>
            <a:srgbClr val="3D7BFF"/>
          </a:solidFill>
          <a:ln/>
        </p:spPr>
      </p:sp>
      <p:pic>
        <p:nvPicPr>
          <p:cNvPr id="14" name="Image 1" descr="preencoded.png">    </p:cNvPr>
          <p:cNvPicPr>
            <a:picLocks noChangeAspect="1"/>
          </p:cNvPicPr>
          <p:nvPr/>
        </p:nvPicPr>
        <p:blipFill>
          <a:blip r:embed="rId2"/>
          <a:stretch>
            <a:fillRect/>
          </a:stretch>
        </p:blipFill>
        <p:spPr>
          <a:xfrm>
            <a:off x="4776073" y="2061468"/>
            <a:ext cx="215895" cy="215900"/>
          </a:xfrm>
          <a:prstGeom prst="rect">
            <a:avLst/>
          </a:prstGeom>
        </p:spPr>
      </p:pic>
      <p:sp>
        <p:nvSpPr>
          <p:cNvPr id="15" name="Text 11"/>
          <p:cNvSpPr/>
          <p:nvPr/>
        </p:nvSpPr>
        <p:spPr>
          <a:xfrm>
            <a:off x="4614152" y="2566293"/>
            <a:ext cx="3014091"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Multi-platform support</a:t>
            </a:r>
            <a:endParaRPr lang="en-US" sz="1800" dirty="0"/>
          </a:p>
        </p:txBody>
      </p:sp>
      <p:sp>
        <p:nvSpPr>
          <p:cNvPr id="16" name="Text 12"/>
          <p:cNvSpPr/>
          <p:nvPr/>
        </p:nvSpPr>
        <p:spPr>
          <a:xfrm>
            <a:off x="4614152" y="3019028"/>
            <a:ext cx="3014091"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Instagram, Facebook, Google Ads, LinkedIn.</a:t>
            </a:r>
            <a:endParaRPr lang="en-US" sz="1500" dirty="0"/>
          </a:p>
        </p:txBody>
      </p:sp>
      <p:sp>
        <p:nvSpPr>
          <p:cNvPr id="17" name="Shape 13"/>
          <p:cNvSpPr/>
          <p:nvPr/>
        </p:nvSpPr>
        <p:spPr>
          <a:xfrm>
            <a:off x="8161629" y="1670943"/>
            <a:ext cx="3522078" cy="2187079"/>
          </a:xfrm>
          <a:prstGeom prst="roundRect">
            <a:avLst>
              <a:gd name="adj" fmla="val 4146"/>
            </a:avLst>
          </a:prstGeom>
          <a:solidFill>
            <a:srgbClr val="0A1633"/>
          </a:solidFill>
          <a:ln/>
        </p:spPr>
      </p:sp>
      <p:sp>
        <p:nvSpPr>
          <p:cNvPr id="18" name="Shape 14"/>
          <p:cNvSpPr/>
          <p:nvPr/>
        </p:nvSpPr>
        <p:spPr>
          <a:xfrm>
            <a:off x="8390224" y="1899543"/>
            <a:ext cx="539736" cy="539750"/>
          </a:xfrm>
          <a:prstGeom prst="ellipse">
            <a:avLst/>
          </a:prstGeom>
          <a:solidFill>
            <a:srgbClr val="3D7BFF"/>
          </a:solidFill>
          <a:ln/>
        </p:spPr>
      </p:sp>
      <p:pic>
        <p:nvPicPr>
          <p:cNvPr id="19" name="Image 2" descr="preencoded.png">    </p:cNvPr>
          <p:cNvPicPr>
            <a:picLocks noChangeAspect="1"/>
          </p:cNvPicPr>
          <p:nvPr/>
        </p:nvPicPr>
        <p:blipFill>
          <a:blip r:embed="rId3"/>
          <a:stretch>
            <a:fillRect/>
          </a:stretch>
        </p:blipFill>
        <p:spPr>
          <a:xfrm>
            <a:off x="8552145" y="2061468"/>
            <a:ext cx="215895" cy="215900"/>
          </a:xfrm>
          <a:prstGeom prst="rect">
            <a:avLst/>
          </a:prstGeom>
        </p:spPr>
      </p:pic>
      <p:sp>
        <p:nvSpPr>
          <p:cNvPr id="20" name="Text 15"/>
          <p:cNvSpPr/>
          <p:nvPr/>
        </p:nvSpPr>
        <p:spPr>
          <a:xfrm>
            <a:off x="8390224" y="2566293"/>
            <a:ext cx="306489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Creative library</a:t>
            </a:r>
            <a:endParaRPr lang="en-US" sz="1800" dirty="0"/>
          </a:p>
        </p:txBody>
      </p:sp>
      <p:sp>
        <p:nvSpPr>
          <p:cNvPr id="21" name="Text 16"/>
          <p:cNvSpPr/>
          <p:nvPr/>
        </p:nvSpPr>
        <p:spPr>
          <a:xfrm>
            <a:off x="8390224" y="3019028"/>
            <a:ext cx="3064890"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Product image upload and reusable creatives.</a:t>
            </a:r>
            <a:endParaRPr lang="en-US" sz="1500" dirty="0"/>
          </a:p>
        </p:txBody>
      </p:sp>
      <p:sp>
        <p:nvSpPr>
          <p:cNvPr id="22" name="Shape 17"/>
          <p:cNvSpPr/>
          <p:nvPr/>
        </p:nvSpPr>
        <p:spPr>
          <a:xfrm>
            <a:off x="507987" y="4162822"/>
            <a:ext cx="3572778" cy="2187178"/>
          </a:xfrm>
          <a:prstGeom prst="roundRect">
            <a:avLst>
              <a:gd name="adj" fmla="val 4146"/>
            </a:avLst>
          </a:prstGeom>
          <a:solidFill>
            <a:srgbClr val="0A1633"/>
          </a:solidFill>
          <a:ln/>
        </p:spPr>
      </p:sp>
      <p:sp>
        <p:nvSpPr>
          <p:cNvPr id="23" name="Shape 18"/>
          <p:cNvSpPr/>
          <p:nvPr/>
        </p:nvSpPr>
        <p:spPr>
          <a:xfrm>
            <a:off x="736582" y="4391422"/>
            <a:ext cx="539736" cy="539750"/>
          </a:xfrm>
          <a:prstGeom prst="ellipse">
            <a:avLst/>
          </a:prstGeom>
          <a:solidFill>
            <a:srgbClr val="3D7BFF"/>
          </a:solidFill>
          <a:ln/>
        </p:spPr>
      </p:sp>
      <p:pic>
        <p:nvPicPr>
          <p:cNvPr id="24" name="Image 3" descr="preencoded.png">    </p:cNvPr>
          <p:cNvPicPr>
            <a:picLocks noChangeAspect="1"/>
          </p:cNvPicPr>
          <p:nvPr/>
        </p:nvPicPr>
        <p:blipFill>
          <a:blip r:embed="rId4"/>
          <a:stretch>
            <a:fillRect/>
          </a:stretch>
        </p:blipFill>
        <p:spPr>
          <a:xfrm>
            <a:off x="898503" y="4553347"/>
            <a:ext cx="215895" cy="215900"/>
          </a:xfrm>
          <a:prstGeom prst="rect">
            <a:avLst/>
          </a:prstGeom>
        </p:spPr>
      </p:pic>
      <p:sp>
        <p:nvSpPr>
          <p:cNvPr id="25" name="Text 19"/>
          <p:cNvSpPr/>
          <p:nvPr/>
        </p:nvSpPr>
        <p:spPr>
          <a:xfrm>
            <a:off x="736582" y="5058172"/>
            <a:ext cx="3115589"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Templates</a:t>
            </a:r>
            <a:endParaRPr lang="en-US" sz="1800" dirty="0"/>
          </a:p>
        </p:txBody>
      </p:sp>
      <p:sp>
        <p:nvSpPr>
          <p:cNvPr id="26" name="Text 20"/>
          <p:cNvSpPr/>
          <p:nvPr/>
        </p:nvSpPr>
        <p:spPr>
          <a:xfrm>
            <a:off x="736582" y="5510907"/>
            <a:ext cx="3344184" cy="266700"/>
          </a:xfrm>
          <a:prstGeom prst="rect">
            <a:avLst/>
          </a:prstGeom>
          <a:noFill/>
          <a:ln/>
        </p:spPr>
        <p:txBody>
          <a:bodyPr wrap="none" lIns="0" tIns="0" rIns="0" bIns="0" rtlCol="0" anchor="t"/>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Fast starts for new campaigns.</a:t>
            </a:r>
            <a:endParaRPr lang="en-US" sz="1500" dirty="0"/>
          </a:p>
        </p:txBody>
      </p:sp>
      <p:sp>
        <p:nvSpPr>
          <p:cNvPr id="27" name="Shape 21"/>
          <p:cNvSpPr/>
          <p:nvPr/>
        </p:nvSpPr>
        <p:spPr>
          <a:xfrm>
            <a:off x="4385557" y="4162822"/>
            <a:ext cx="7298150" cy="2187178"/>
          </a:xfrm>
          <a:prstGeom prst="roundRect">
            <a:avLst>
              <a:gd name="adj" fmla="val 4146"/>
            </a:avLst>
          </a:prstGeom>
          <a:solidFill>
            <a:srgbClr val="0A1633"/>
          </a:solidFill>
          <a:ln/>
        </p:spPr>
      </p:sp>
      <p:sp>
        <p:nvSpPr>
          <p:cNvPr id="28" name="Shape 22"/>
          <p:cNvSpPr/>
          <p:nvPr/>
        </p:nvSpPr>
        <p:spPr>
          <a:xfrm>
            <a:off x="4614152" y="4391422"/>
            <a:ext cx="539736" cy="539750"/>
          </a:xfrm>
          <a:prstGeom prst="ellipse">
            <a:avLst/>
          </a:prstGeom>
          <a:solidFill>
            <a:srgbClr val="3D7BFF"/>
          </a:solidFill>
          <a:ln/>
        </p:spPr>
      </p:sp>
      <p:pic>
        <p:nvPicPr>
          <p:cNvPr id="29" name="Image 4" descr="preencoded.png">    </p:cNvPr>
          <p:cNvPicPr>
            <a:picLocks noChangeAspect="1"/>
          </p:cNvPicPr>
          <p:nvPr/>
        </p:nvPicPr>
        <p:blipFill>
          <a:blip r:embed="rId5"/>
          <a:stretch>
            <a:fillRect/>
          </a:stretch>
        </p:blipFill>
        <p:spPr>
          <a:xfrm>
            <a:off x="4776073" y="4553347"/>
            <a:ext cx="215895" cy="215900"/>
          </a:xfrm>
          <a:prstGeom prst="rect">
            <a:avLst/>
          </a:prstGeom>
        </p:spPr>
      </p:pic>
      <p:sp>
        <p:nvSpPr>
          <p:cNvPr id="30" name="Text 23"/>
          <p:cNvSpPr/>
          <p:nvPr/>
        </p:nvSpPr>
        <p:spPr>
          <a:xfrm>
            <a:off x="4614152" y="5058172"/>
            <a:ext cx="6840962"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Usage views</a:t>
            </a:r>
            <a:endParaRPr lang="en-US" sz="1800" dirty="0"/>
          </a:p>
        </p:txBody>
      </p:sp>
      <p:sp>
        <p:nvSpPr>
          <p:cNvPr id="31" name="Text 24"/>
          <p:cNvSpPr/>
          <p:nvPr/>
        </p:nvSpPr>
        <p:spPr>
          <a:xfrm>
            <a:off x="4614152" y="5510907"/>
            <a:ext cx="7069556" cy="266700"/>
          </a:xfrm>
          <a:prstGeom prst="rect">
            <a:avLst/>
          </a:prstGeom>
          <a:noFill/>
          <a:ln/>
        </p:spPr>
        <p:txBody>
          <a:bodyPr wrap="none" lIns="0" tIns="0" rIns="0" bIns="0" rtlCol="0" anchor="t"/>
          <a:lstStyle/>
          <a:p>
            <a:pPr algn="l" indent="0" marL="0">
              <a:lnSpc>
                <a:spcPct val="117000"/>
              </a:lnSpc>
              <a:buNone/>
            </a:pPr>
            <a:r>
              <a:rPr lang="en-US" sz="1500" dirty="0">
                <a:solidFill>
                  <a:srgbClr val="FFFFFF"/>
                </a:solidFill>
                <a:latin typeface="Mona Sans" pitchFamily="34" charset="0"/>
                <a:ea typeface="Mona Sans" pitchFamily="34" charset="-122"/>
                <a:cs typeface="Mona Sans" pitchFamily="34" charset="-120"/>
              </a:rPr>
              <a:t>Creative generation and platform usage views.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2856635" cy="231973"/>
          </a:xfrm>
          <a:prstGeom prst="roundRect">
            <a:avLst>
              <a:gd name="adj" fmla="val 26443"/>
            </a:avLst>
          </a:prstGeom>
          <a:noFill/>
          <a:ln w="6350">
            <a:solidFill>
              <a:srgbClr val="3D7BFF"/>
            </a:solidFill>
            <a:prstDash val="solid"/>
          </a:ln>
        </p:spPr>
      </p:sp>
      <p:sp>
        <p:nvSpPr>
          <p:cNvPr id="4" name="Text 2"/>
          <p:cNvSpPr/>
          <p:nvPr/>
        </p:nvSpPr>
        <p:spPr>
          <a:xfrm>
            <a:off x="588253" y="540048"/>
            <a:ext cx="3305688"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06 · CREATIVE INTELLIGENCE</a:t>
            </a:r>
            <a:endParaRPr lang="en-US" sz="1150" dirty="0"/>
          </a:p>
        </p:txBody>
      </p:sp>
      <p:sp>
        <p:nvSpPr>
          <p:cNvPr id="5" name="Text 3"/>
          <p:cNvSpPr/>
          <p:nvPr/>
        </p:nvSpPr>
        <p:spPr>
          <a:xfrm>
            <a:off x="3472569" y="540048"/>
            <a:ext cx="1750274"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AI PIPELINE</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AdForge AI creative pipeline</a:t>
            </a:r>
            <a:endParaRPr lang="en-US" sz="3200" dirty="0"/>
          </a:p>
        </p:txBody>
      </p:sp>
      <p:sp>
        <p:nvSpPr>
          <p:cNvPr id="7" name="Text 5"/>
          <p:cNvSpPr/>
          <p:nvPr/>
        </p:nvSpPr>
        <p:spPr>
          <a:xfrm>
            <a:off x="507987" y="1670943"/>
            <a:ext cx="1117572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AdForge AI turns each campaign brief into structured outputs the frontend can render consistently across platforms.</a:t>
            </a:r>
            <a:endParaRPr lang="en-US" sz="1700" dirty="0"/>
          </a:p>
        </p:txBody>
      </p:sp>
      <p:sp>
        <p:nvSpPr>
          <p:cNvPr id="8" name="Shape 6"/>
          <p:cNvSpPr/>
          <p:nvPr/>
        </p:nvSpPr>
        <p:spPr>
          <a:xfrm>
            <a:off x="507987" y="2469059"/>
            <a:ext cx="3521979" cy="3880941"/>
          </a:xfrm>
          <a:prstGeom prst="roundRect">
            <a:avLst>
              <a:gd name="adj" fmla="val 2575"/>
            </a:avLst>
          </a:prstGeom>
          <a:solidFill>
            <a:srgbClr val="0A1633"/>
          </a:solidFill>
          <a:ln/>
        </p:spPr>
      </p:sp>
      <p:sp>
        <p:nvSpPr>
          <p:cNvPr id="9" name="Text 7"/>
          <p:cNvSpPr/>
          <p:nvPr/>
        </p:nvSpPr>
        <p:spPr>
          <a:xfrm>
            <a:off x="736582" y="2697659"/>
            <a:ext cx="3293385"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USER INPUT</a:t>
            </a:r>
            <a:endParaRPr lang="en-US" sz="1200" dirty="0"/>
          </a:p>
        </p:txBody>
      </p:sp>
      <p:sp>
        <p:nvSpPr>
          <p:cNvPr id="10" name="Text 8"/>
          <p:cNvSpPr/>
          <p:nvPr/>
        </p:nvSpPr>
        <p:spPr>
          <a:xfrm>
            <a:off x="736582" y="3022699"/>
            <a:ext cx="3064791" cy="1673027"/>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Product information</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Audience</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Platform</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Objective · tone · product image</a:t>
            </a:r>
            <a:endParaRPr lang="en-US" sz="1700" dirty="0"/>
          </a:p>
        </p:txBody>
      </p:sp>
      <p:sp>
        <p:nvSpPr>
          <p:cNvPr id="11" name="Shape 9"/>
          <p:cNvSpPr/>
          <p:nvPr/>
        </p:nvSpPr>
        <p:spPr>
          <a:xfrm>
            <a:off x="4334759" y="2469059"/>
            <a:ext cx="3522078" cy="3880941"/>
          </a:xfrm>
          <a:prstGeom prst="roundRect">
            <a:avLst>
              <a:gd name="adj" fmla="val 2574"/>
            </a:avLst>
          </a:prstGeom>
          <a:solidFill>
            <a:srgbClr val="2456C5"/>
          </a:solidFill>
          <a:ln/>
        </p:spPr>
      </p:sp>
      <p:sp>
        <p:nvSpPr>
          <p:cNvPr id="12" name="Text 10"/>
          <p:cNvSpPr/>
          <p:nvPr/>
        </p:nvSpPr>
        <p:spPr>
          <a:xfrm>
            <a:off x="4563353" y="2697659"/>
            <a:ext cx="3293484"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ADFORGE GENERATION</a:t>
            </a:r>
            <a:endParaRPr lang="en-US" sz="1200" dirty="0"/>
          </a:p>
        </p:txBody>
      </p:sp>
      <p:sp>
        <p:nvSpPr>
          <p:cNvPr id="13" name="Text 11"/>
          <p:cNvSpPr/>
          <p:nvPr/>
        </p:nvSpPr>
        <p:spPr>
          <a:xfrm>
            <a:off x="4563353" y="3022699"/>
            <a:ext cx="3064890" cy="1370806"/>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Content and headline</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Ad copy and CTA</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Hashtag generation</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Visual prompt generation</a:t>
            </a:r>
            <a:endParaRPr lang="en-US" sz="1700" dirty="0"/>
          </a:p>
        </p:txBody>
      </p:sp>
      <p:sp>
        <p:nvSpPr>
          <p:cNvPr id="14" name="Shape 12"/>
          <p:cNvSpPr/>
          <p:nvPr/>
        </p:nvSpPr>
        <p:spPr>
          <a:xfrm>
            <a:off x="8161629" y="2469059"/>
            <a:ext cx="3522078" cy="3880941"/>
          </a:xfrm>
          <a:prstGeom prst="roundRect">
            <a:avLst>
              <a:gd name="adj" fmla="val 2574"/>
            </a:avLst>
          </a:prstGeom>
          <a:solidFill>
            <a:srgbClr val="0A1633"/>
          </a:solidFill>
          <a:ln/>
        </p:spPr>
      </p:sp>
      <p:sp>
        <p:nvSpPr>
          <p:cNvPr id="15" name="Text 13"/>
          <p:cNvSpPr/>
          <p:nvPr/>
        </p:nvSpPr>
        <p:spPr>
          <a:xfrm>
            <a:off x="8390224" y="2697659"/>
            <a:ext cx="3293484"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IMPLEMENTATION</a:t>
            </a:r>
            <a:endParaRPr lang="en-US" sz="1200" dirty="0"/>
          </a:p>
        </p:txBody>
      </p:sp>
      <p:sp>
        <p:nvSpPr>
          <p:cNvPr id="16" name="Text 14"/>
          <p:cNvSpPr/>
          <p:nvPr/>
        </p:nvSpPr>
        <p:spPr>
          <a:xfrm>
            <a:off x="8390224" y="3022699"/>
            <a:ext cx="3064890" cy="1975247"/>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AI API integration</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Structured JSON responses</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Fallback mechanism</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Platform-specific adaptation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1715945"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164998"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07 · FOUNDATION</a:t>
            </a:r>
            <a:endParaRPr lang="en-US" sz="1150" dirty="0"/>
          </a:p>
        </p:txBody>
      </p:sp>
      <p:sp>
        <p:nvSpPr>
          <p:cNvPr id="5" name="Text 3"/>
          <p:cNvSpPr/>
          <p:nvPr/>
        </p:nvSpPr>
        <p:spPr>
          <a:xfrm>
            <a:off x="2331880" y="540048"/>
            <a:ext cx="2164998"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FULL-STACK SAAS</a:t>
            </a:r>
            <a:endParaRPr lang="en-US" sz="1150" dirty="0"/>
          </a:p>
        </p:txBody>
      </p:sp>
      <p:sp>
        <p:nvSpPr>
          <p:cNvPr id="6" name="Text 4"/>
          <p:cNvSpPr/>
          <p:nvPr/>
        </p:nvSpPr>
        <p:spPr>
          <a:xfrm>
            <a:off x="507987" y="1016198"/>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The full-stack foundation behind AdForge AI</a:t>
            </a:r>
            <a:endParaRPr lang="en-US" sz="3200" dirty="0"/>
          </a:p>
        </p:txBody>
      </p:sp>
      <p:sp>
        <p:nvSpPr>
          <p:cNvPr id="7" name="Shape 5"/>
          <p:cNvSpPr/>
          <p:nvPr/>
        </p:nvSpPr>
        <p:spPr>
          <a:xfrm>
            <a:off x="507987" y="1670943"/>
            <a:ext cx="7066183" cy="4287341"/>
          </a:xfrm>
          <a:prstGeom prst="roundRect">
            <a:avLst>
              <a:gd name="adj" fmla="val 2115"/>
            </a:avLst>
          </a:prstGeom>
          <a:solidFill>
            <a:srgbClr val="0A1633"/>
          </a:solidFill>
          <a:ln/>
        </p:spPr>
      </p:sp>
      <p:sp>
        <p:nvSpPr>
          <p:cNvPr id="8" name="Text 6"/>
          <p:cNvSpPr/>
          <p:nvPr/>
        </p:nvSpPr>
        <p:spPr>
          <a:xfrm>
            <a:off x="736582" y="1899543"/>
            <a:ext cx="6837588"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CONCEPT ARCHITECTURE</a:t>
            </a:r>
            <a:endParaRPr lang="en-US" sz="1200" dirty="0"/>
          </a:p>
        </p:txBody>
      </p:sp>
      <p:sp>
        <p:nvSpPr>
          <p:cNvPr id="9" name="Text 7"/>
          <p:cNvSpPr/>
          <p:nvPr/>
        </p:nvSpPr>
        <p:spPr>
          <a:xfrm>
            <a:off x="736582" y="2514600"/>
            <a:ext cx="660899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Mona Sans" pitchFamily="34" charset="0"/>
                <a:ea typeface="Mona Sans" pitchFamily="34" charset="-122"/>
                <a:cs typeface="Mona Sans" pitchFamily="34" charset="-120"/>
              </a:rPr>
              <a:t>User → React + Vite frontend → REST API layer → FastAPI + Python backend</a:t>
            </a:r>
            <a:endParaRPr lang="en-US" sz="1700" dirty="0"/>
          </a:p>
        </p:txBody>
      </p:sp>
      <p:sp>
        <p:nvSpPr>
          <p:cNvPr id="10" name="Shape 8"/>
          <p:cNvSpPr/>
          <p:nvPr/>
        </p:nvSpPr>
        <p:spPr>
          <a:xfrm>
            <a:off x="736582" y="3298428"/>
            <a:ext cx="6608994" cy="31651"/>
          </a:xfrm>
          <a:prstGeom prst="roundRect">
            <a:avLst>
              <a:gd name="adj" fmla="val 49998"/>
            </a:avLst>
          </a:prstGeom>
          <a:solidFill>
            <a:srgbClr val="3D7BFF"/>
          </a:solidFill>
          <a:ln/>
        </p:spPr>
      </p:sp>
      <p:sp>
        <p:nvSpPr>
          <p:cNvPr id="11" name="Text 9"/>
          <p:cNvSpPr/>
          <p:nvPr/>
        </p:nvSpPr>
        <p:spPr>
          <a:xfrm>
            <a:off x="736582" y="3509566"/>
            <a:ext cx="6837588" cy="189805"/>
          </a:xfrm>
          <a:prstGeom prst="rect">
            <a:avLst/>
          </a:prstGeom>
          <a:noFill/>
          <a:ln/>
        </p:spPr>
        <p:txBody>
          <a:bodyPr wrap="none" lIns="0" tIns="0" rIns="0" bIns="0" rtlCol="0" anchor="t"/>
          <a:lstStyle/>
          <a:p>
            <a:pPr algn="l" indent="0" marL="0">
              <a:lnSpc>
                <a:spcPct val="108000"/>
              </a:lnSpc>
              <a:buNone/>
            </a:pPr>
            <a:r>
              <a:rPr lang="en-US" sz="1150" spc="69" kern="0" dirty="0">
                <a:solidFill>
                  <a:srgbClr val="FFFFFF"/>
                </a:solidFill>
                <a:latin typeface="Azeret Mono Medium" pitchFamily="34" charset="0"/>
                <a:ea typeface="Azeret Mono Medium" pitchFamily="34" charset="-122"/>
                <a:cs typeface="Azeret Mono Medium" pitchFamily="34" charset="-120"/>
              </a:rPr>
              <a:t>BACKEND BRANCHES</a:t>
            </a:r>
            <a:endParaRPr lang="en-US" sz="1150" dirty="0"/>
          </a:p>
        </p:txBody>
      </p:sp>
      <p:sp>
        <p:nvSpPr>
          <p:cNvPr id="12" name="Text 10"/>
          <p:cNvSpPr/>
          <p:nvPr/>
        </p:nvSpPr>
        <p:spPr>
          <a:xfrm>
            <a:off x="736582" y="3826371"/>
            <a:ext cx="3152101"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AI service</a:t>
            </a:r>
            <a:endParaRPr lang="en-US" sz="1800" dirty="0"/>
          </a:p>
        </p:txBody>
      </p:sp>
      <p:sp>
        <p:nvSpPr>
          <p:cNvPr id="13" name="Text 11"/>
          <p:cNvSpPr/>
          <p:nvPr/>
        </p:nvSpPr>
        <p:spPr>
          <a:xfrm>
            <a:off x="736582" y="4279106"/>
            <a:ext cx="3152101" cy="302220"/>
          </a:xfrm>
          <a:prstGeom prst="rect">
            <a:avLst/>
          </a:prstGeom>
          <a:noFill/>
          <a:ln/>
        </p:spPr>
        <p:txBody>
          <a:bodyPr wrap="none" lIns="0" tIns="0" rIns="0" bIns="0" rtlCol="0" anchor="t"/>
          <a:lstStyle/>
          <a:p>
            <a:pPr algn="l" indent="0" marL="0">
              <a:lnSpc>
                <a:spcPct val="117000"/>
              </a:lnSpc>
              <a:buNone/>
            </a:pPr>
            <a:r>
              <a:rPr lang="en-US" sz="1700" dirty="0">
                <a:solidFill>
                  <a:srgbClr val="FFFFFF"/>
                </a:solidFill>
                <a:latin typeface="Mona Sans" pitchFamily="34" charset="0"/>
                <a:ea typeface="Mona Sans" pitchFamily="34" charset="-122"/>
                <a:cs typeface="Mona Sans" pitchFamily="34" charset="-120"/>
              </a:rPr>
              <a:t>For generation</a:t>
            </a:r>
            <a:endParaRPr lang="en-US" sz="1700" dirty="0"/>
          </a:p>
        </p:txBody>
      </p:sp>
      <p:sp>
        <p:nvSpPr>
          <p:cNvPr id="14" name="Text 12"/>
          <p:cNvSpPr/>
          <p:nvPr/>
        </p:nvSpPr>
        <p:spPr>
          <a:xfrm>
            <a:off x="4193475" y="3826371"/>
            <a:ext cx="3152101"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PostgreSQL</a:t>
            </a:r>
            <a:endParaRPr lang="en-US" sz="1800" dirty="0"/>
          </a:p>
        </p:txBody>
      </p:sp>
      <p:sp>
        <p:nvSpPr>
          <p:cNvPr id="15" name="Text 13"/>
          <p:cNvSpPr/>
          <p:nvPr/>
        </p:nvSpPr>
        <p:spPr>
          <a:xfrm>
            <a:off x="4193475" y="4279106"/>
            <a:ext cx="3152101" cy="302220"/>
          </a:xfrm>
          <a:prstGeom prst="rect">
            <a:avLst/>
          </a:prstGeom>
          <a:noFill/>
          <a:ln/>
        </p:spPr>
        <p:txBody>
          <a:bodyPr wrap="none" lIns="0" tIns="0" rIns="0" bIns="0" rtlCol="0" anchor="t"/>
          <a:lstStyle/>
          <a:p>
            <a:pPr algn="l" indent="0" marL="0">
              <a:lnSpc>
                <a:spcPct val="117000"/>
              </a:lnSpc>
              <a:buNone/>
            </a:pPr>
            <a:r>
              <a:rPr lang="en-US" sz="1700" dirty="0">
                <a:solidFill>
                  <a:srgbClr val="FFFFFF"/>
                </a:solidFill>
                <a:latin typeface="Mona Sans" pitchFamily="34" charset="0"/>
                <a:ea typeface="Mona Sans" pitchFamily="34" charset="-122"/>
                <a:cs typeface="Mona Sans" pitchFamily="34" charset="-120"/>
              </a:rPr>
              <a:t>For persistent user data</a:t>
            </a:r>
            <a:endParaRPr lang="en-US" sz="1700" dirty="0"/>
          </a:p>
        </p:txBody>
      </p:sp>
      <p:sp>
        <p:nvSpPr>
          <p:cNvPr id="16" name="Text 14"/>
          <p:cNvSpPr/>
          <p:nvPr/>
        </p:nvSpPr>
        <p:spPr>
          <a:xfrm>
            <a:off x="736582" y="4708327"/>
            <a:ext cx="660899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Mona Sans" pitchFamily="34" charset="0"/>
                <a:ea typeface="Mona Sans" pitchFamily="34" charset="-122"/>
                <a:cs typeface="Mona Sans" pitchFamily="34" charset="-120"/>
              </a:rPr>
              <a:t>AdForge AI sends generated creative data to the ad creative library; PostgreSQL persists product and creative assets.</a:t>
            </a:r>
            <a:endParaRPr lang="en-US" sz="1700" dirty="0"/>
          </a:p>
        </p:txBody>
      </p:sp>
      <p:pic>
        <p:nvPicPr>
          <p:cNvPr id="17" name="Image 0" descr="preencoded.png">    </p:cNvPr>
          <p:cNvPicPr>
            <a:picLocks noChangeAspect="1"/>
          </p:cNvPicPr>
          <p:nvPr/>
        </p:nvPicPr>
        <p:blipFill>
          <a:blip r:embed="rId1"/>
          <a:stretch>
            <a:fillRect/>
          </a:stretch>
        </p:blipFill>
        <p:spPr>
          <a:xfrm>
            <a:off x="7878863" y="1670943"/>
            <a:ext cx="3804845" cy="4287341"/>
          </a:xfrm>
          <a:prstGeom prst="rect">
            <a:avLst/>
          </a:prstGeom>
        </p:spPr>
      </p:pic>
      <p:sp>
        <p:nvSpPr>
          <p:cNvPr id="18" name="Text 15"/>
          <p:cNvSpPr/>
          <p:nvPr/>
        </p:nvSpPr>
        <p:spPr>
          <a:xfrm>
            <a:off x="507987" y="6151959"/>
            <a:ext cx="11683708"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SEPARATION OF FRONTEND, BACKEND, AI SERVICES, AND PERSISTENT DATA KEEPS THE SAAS ARCHITECTURE CLEAR.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2545493"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994545"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08 · PRODUCT EXPERIENCE</a:t>
            </a:r>
            <a:endParaRPr lang="en-US" sz="1150" dirty="0"/>
          </a:p>
        </p:txBody>
      </p:sp>
      <p:sp>
        <p:nvSpPr>
          <p:cNvPr id="5" name="Text 3"/>
          <p:cNvSpPr/>
          <p:nvPr/>
        </p:nvSpPr>
        <p:spPr>
          <a:xfrm>
            <a:off x="3161427" y="540048"/>
            <a:ext cx="2476140"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CONCEPT UI MOCKUPS</a:t>
            </a:r>
            <a:endParaRPr lang="en-US" sz="1150" dirty="0"/>
          </a:p>
        </p:txBody>
      </p:sp>
      <p:sp>
        <p:nvSpPr>
          <p:cNvPr id="6" name="Text 4"/>
          <p:cNvSpPr/>
          <p:nvPr/>
        </p:nvSpPr>
        <p:spPr>
          <a:xfrm>
            <a:off x="507987" y="930473"/>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FFFFFF"/>
                </a:solidFill>
                <a:latin typeface="Sora Bold" pitchFamily="34" charset="0"/>
                <a:ea typeface="Sora Bold" pitchFamily="34" charset="-122"/>
                <a:cs typeface="Sora Bold" pitchFamily="34" charset="-120"/>
              </a:rPr>
              <a:t>AdForge AI product experience</a:t>
            </a:r>
            <a:endParaRPr lang="en-US" sz="3200" dirty="0"/>
          </a:p>
        </p:txBody>
      </p:sp>
      <p:sp>
        <p:nvSpPr>
          <p:cNvPr id="7" name="Shape 5"/>
          <p:cNvSpPr/>
          <p:nvPr/>
        </p:nvSpPr>
        <p:spPr>
          <a:xfrm>
            <a:off x="507987" y="1585218"/>
            <a:ext cx="5435464" cy="1839416"/>
          </a:xfrm>
          <a:prstGeom prst="roundRect">
            <a:avLst>
              <a:gd name="adj" fmla="val 4930"/>
            </a:avLst>
          </a:prstGeom>
          <a:solidFill>
            <a:srgbClr val="002980"/>
          </a:solidFill>
          <a:ln/>
        </p:spPr>
      </p:sp>
      <p:sp>
        <p:nvSpPr>
          <p:cNvPr id="8" name="Text 6"/>
          <p:cNvSpPr/>
          <p:nvPr/>
        </p:nvSpPr>
        <p:spPr>
          <a:xfrm>
            <a:off x="736582" y="1813818"/>
            <a:ext cx="4978275"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Dashboard</a:t>
            </a:r>
            <a:endParaRPr lang="en-US" sz="1800" dirty="0"/>
          </a:p>
        </p:txBody>
      </p:sp>
      <p:sp>
        <p:nvSpPr>
          <p:cNvPr id="9" name="Text 7"/>
          <p:cNvSpPr/>
          <p:nvPr/>
        </p:nvSpPr>
        <p:spPr>
          <a:xfrm>
            <a:off x="736582" y="2266553"/>
            <a:ext cx="5206870"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Campaign creation and usage overview.</a:t>
            </a:r>
            <a:endParaRPr lang="en-US" sz="1700" dirty="0"/>
          </a:p>
        </p:txBody>
      </p:sp>
      <p:sp>
        <p:nvSpPr>
          <p:cNvPr id="10" name="Text 8"/>
          <p:cNvSpPr/>
          <p:nvPr/>
        </p:nvSpPr>
        <p:spPr>
          <a:xfrm>
            <a:off x="736582" y="2695773"/>
            <a:ext cx="5206870"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OVERVIEW · USAGE · RECENT CREATIVES</a:t>
            </a:r>
            <a:endParaRPr lang="en-US" sz="1200" dirty="0"/>
          </a:p>
        </p:txBody>
      </p:sp>
      <p:sp>
        <p:nvSpPr>
          <p:cNvPr id="11" name="Shape 9"/>
          <p:cNvSpPr/>
          <p:nvPr/>
        </p:nvSpPr>
        <p:spPr>
          <a:xfrm>
            <a:off x="6248244" y="1585218"/>
            <a:ext cx="5435464" cy="1839416"/>
          </a:xfrm>
          <a:prstGeom prst="roundRect">
            <a:avLst>
              <a:gd name="adj" fmla="val 4930"/>
            </a:avLst>
          </a:prstGeom>
          <a:solidFill>
            <a:srgbClr val="002980"/>
          </a:solidFill>
          <a:ln/>
        </p:spPr>
      </p:sp>
      <p:sp>
        <p:nvSpPr>
          <p:cNvPr id="12" name="Text 10"/>
          <p:cNvSpPr/>
          <p:nvPr/>
        </p:nvSpPr>
        <p:spPr>
          <a:xfrm>
            <a:off x="6476838" y="1813818"/>
            <a:ext cx="4978275"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Create Ad</a:t>
            </a:r>
            <a:endParaRPr lang="en-US" sz="1800" dirty="0"/>
          </a:p>
        </p:txBody>
      </p:sp>
      <p:sp>
        <p:nvSpPr>
          <p:cNvPr id="13" name="Text 11"/>
          <p:cNvSpPr/>
          <p:nvPr/>
        </p:nvSpPr>
        <p:spPr>
          <a:xfrm>
            <a:off x="6476838" y="2266553"/>
            <a:ext cx="4978275"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Product, audience, platform, objective, and tone inputs.</a:t>
            </a:r>
            <a:endParaRPr lang="en-US" sz="1700" dirty="0"/>
          </a:p>
        </p:txBody>
      </p:sp>
      <p:sp>
        <p:nvSpPr>
          <p:cNvPr id="14" name="Text 12"/>
          <p:cNvSpPr/>
          <p:nvPr/>
        </p:nvSpPr>
        <p:spPr>
          <a:xfrm>
            <a:off x="6476838" y="2997994"/>
            <a:ext cx="5206870"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BRIEF → GENERATE</a:t>
            </a:r>
            <a:endParaRPr lang="en-US" sz="1200" dirty="0"/>
          </a:p>
        </p:txBody>
      </p:sp>
      <p:sp>
        <p:nvSpPr>
          <p:cNvPr id="15" name="Shape 13"/>
          <p:cNvSpPr/>
          <p:nvPr/>
        </p:nvSpPr>
        <p:spPr>
          <a:xfrm>
            <a:off x="507987" y="3729434"/>
            <a:ext cx="5435464" cy="1735237"/>
          </a:xfrm>
          <a:prstGeom prst="roundRect">
            <a:avLst>
              <a:gd name="adj" fmla="val 5226"/>
            </a:avLst>
          </a:prstGeom>
          <a:solidFill>
            <a:srgbClr val="002980"/>
          </a:solidFill>
          <a:ln/>
        </p:spPr>
      </p:sp>
      <p:sp>
        <p:nvSpPr>
          <p:cNvPr id="16" name="Text 14"/>
          <p:cNvSpPr/>
          <p:nvPr/>
        </p:nvSpPr>
        <p:spPr>
          <a:xfrm>
            <a:off x="736582" y="3958034"/>
            <a:ext cx="4978275"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Creative preview</a:t>
            </a:r>
            <a:endParaRPr lang="en-US" sz="1800" dirty="0"/>
          </a:p>
        </p:txBody>
      </p:sp>
      <p:sp>
        <p:nvSpPr>
          <p:cNvPr id="17" name="Text 15"/>
          <p:cNvSpPr/>
          <p:nvPr/>
        </p:nvSpPr>
        <p:spPr>
          <a:xfrm>
            <a:off x="736582" y="4410770"/>
            <a:ext cx="5206870"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AdForge AI creative with platform variations.</a:t>
            </a:r>
            <a:endParaRPr lang="en-US" sz="1700" dirty="0"/>
          </a:p>
        </p:txBody>
      </p:sp>
      <p:sp>
        <p:nvSpPr>
          <p:cNvPr id="18" name="Text 16"/>
          <p:cNvSpPr/>
          <p:nvPr/>
        </p:nvSpPr>
        <p:spPr>
          <a:xfrm>
            <a:off x="736582" y="4839990"/>
            <a:ext cx="5206870"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INSTAGRAM · FACEBOOK · GOOGLE ADS · LINKEDIN</a:t>
            </a:r>
            <a:endParaRPr lang="en-US" sz="1200" dirty="0"/>
          </a:p>
        </p:txBody>
      </p:sp>
      <p:sp>
        <p:nvSpPr>
          <p:cNvPr id="19" name="Shape 17"/>
          <p:cNvSpPr/>
          <p:nvPr/>
        </p:nvSpPr>
        <p:spPr>
          <a:xfrm>
            <a:off x="6248244" y="3729434"/>
            <a:ext cx="5435464" cy="1735237"/>
          </a:xfrm>
          <a:prstGeom prst="roundRect">
            <a:avLst>
              <a:gd name="adj" fmla="val 5226"/>
            </a:avLst>
          </a:prstGeom>
          <a:solidFill>
            <a:srgbClr val="002980"/>
          </a:solidFill>
          <a:ln/>
        </p:spPr>
      </p:sp>
      <p:sp>
        <p:nvSpPr>
          <p:cNvPr id="20" name="Text 18"/>
          <p:cNvSpPr/>
          <p:nvPr/>
        </p:nvSpPr>
        <p:spPr>
          <a:xfrm>
            <a:off x="6476838" y="3958034"/>
            <a:ext cx="4978275"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Mona Sans" pitchFamily="34" charset="0"/>
                <a:ea typeface="Mona Sans" pitchFamily="34" charset="-122"/>
                <a:cs typeface="Mona Sans" pitchFamily="34" charset="-120"/>
              </a:rPr>
              <a:t>My Creatives</a:t>
            </a:r>
            <a:endParaRPr lang="en-US" sz="1800" dirty="0"/>
          </a:p>
        </p:txBody>
      </p:sp>
      <p:sp>
        <p:nvSpPr>
          <p:cNvPr id="21" name="Text 19"/>
          <p:cNvSpPr/>
          <p:nvPr/>
        </p:nvSpPr>
        <p:spPr>
          <a:xfrm>
            <a:off x="6476838" y="4410770"/>
            <a:ext cx="5206870" cy="302220"/>
          </a:xfrm>
          <a:prstGeom prst="rect">
            <a:avLst/>
          </a:prstGeom>
          <a:noFill/>
          <a:ln/>
        </p:spPr>
        <p:txBody>
          <a:bodyPr wrap="none" lIns="0" tIns="0" rIns="0" bIns="0" rtlCol="0" anchor="t"/>
          <a:lstStyle/>
          <a:p>
            <a:pPr algn="l" indent="0" marL="0">
              <a:lnSpc>
                <a:spcPct val="117000"/>
              </a:lnSpc>
              <a:buNone/>
            </a:pPr>
            <a:r>
              <a:rPr lang="en-US" sz="1700" dirty="0">
                <a:solidFill>
                  <a:srgbClr val="D6DEEC"/>
                </a:solidFill>
                <a:latin typeface="Mona Sans" pitchFamily="34" charset="0"/>
                <a:ea typeface="Mona Sans" pitchFamily="34" charset="-122"/>
                <a:cs typeface="Mona Sans" pitchFamily="34" charset="-120"/>
              </a:rPr>
              <a:t>Library, templates, and analytics views.</a:t>
            </a:r>
            <a:endParaRPr lang="en-US" sz="1700" dirty="0"/>
          </a:p>
        </p:txBody>
      </p:sp>
      <p:sp>
        <p:nvSpPr>
          <p:cNvPr id="22" name="Text 20"/>
          <p:cNvSpPr/>
          <p:nvPr/>
        </p:nvSpPr>
        <p:spPr>
          <a:xfrm>
            <a:off x="6476838" y="4839990"/>
            <a:ext cx="4978275" cy="396081"/>
          </a:xfrm>
          <a:prstGeom prst="rect">
            <a:avLst/>
          </a:prstGeom>
          <a:noFill/>
          <a:ln/>
        </p:spPr>
        <p:txBody>
          <a:bodyPr wrap="square" lIns="0" tIns="0" rIns="0" bIns="0" rtlCol="0" anchor="t">
            <a:normAutofit/>
          </a:bodyPr>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RESPONSIVE REACT INTERFACE · POSTGRESQL-BACKED PERSISTENCE</a:t>
            </a:r>
            <a:endParaRPr lang="en-US" sz="1200" dirty="0"/>
          </a:p>
        </p:txBody>
      </p:sp>
      <p:sp>
        <p:nvSpPr>
          <p:cNvPr id="23" name="Text 21"/>
          <p:cNvSpPr/>
          <p:nvPr/>
        </p:nvSpPr>
        <p:spPr>
          <a:xfrm>
            <a:off x="507987" y="5658346"/>
            <a:ext cx="11683708"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PRODUCT CONCEPT MOCKUPS FOR THE ADFORGE AI WORKFLOW, NOT APPLICATION SCREENSHOTS.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7987" y="790773"/>
            <a:ext cx="11175720" cy="12700"/>
          </a:xfrm>
          <a:prstGeom prst="rect">
            <a:avLst/>
          </a:prstGeom>
          <a:solidFill>
            <a:srgbClr val="D6DEEC">
              <a:alpha val="22000"/>
            </a:srgbClr>
          </a:solidFill>
          <a:ln/>
        </p:spPr>
      </p:sp>
      <p:sp>
        <p:nvSpPr>
          <p:cNvPr id="3" name="Shape 1"/>
          <p:cNvSpPr/>
          <p:nvPr/>
        </p:nvSpPr>
        <p:spPr>
          <a:xfrm>
            <a:off x="507987" y="508000"/>
            <a:ext cx="1819626" cy="231973"/>
          </a:xfrm>
          <a:prstGeom prst="roundRect">
            <a:avLst>
              <a:gd name="adj" fmla="val 26443"/>
            </a:avLst>
          </a:prstGeom>
          <a:noFill/>
          <a:ln w="6350">
            <a:solidFill>
              <a:srgbClr val="3D7BFF"/>
            </a:solidFill>
            <a:prstDash val="solid"/>
          </a:ln>
        </p:spPr>
      </p:sp>
      <p:sp>
        <p:nvSpPr>
          <p:cNvPr id="4" name="Text 2"/>
          <p:cNvSpPr/>
          <p:nvPr/>
        </p:nvSpPr>
        <p:spPr>
          <a:xfrm>
            <a:off x="588253" y="540048"/>
            <a:ext cx="2268679"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3D7BFF"/>
                </a:solidFill>
                <a:latin typeface="Azeret Mono Medium" pitchFamily="34" charset="0"/>
                <a:ea typeface="Azeret Mono Medium" pitchFamily="34" charset="-122"/>
                <a:cs typeface="Azeret Mono Medium" pitchFamily="34" charset="-120"/>
              </a:rPr>
              <a:t>09 · THE HORIZON</a:t>
            </a:r>
            <a:endParaRPr lang="en-US" sz="1150" dirty="0"/>
          </a:p>
        </p:txBody>
      </p:sp>
      <p:sp>
        <p:nvSpPr>
          <p:cNvPr id="5" name="Text 3"/>
          <p:cNvSpPr/>
          <p:nvPr/>
        </p:nvSpPr>
        <p:spPr>
          <a:xfrm>
            <a:off x="2435561" y="540048"/>
            <a:ext cx="1646593" cy="167878"/>
          </a:xfrm>
          <a:prstGeom prst="rect">
            <a:avLst/>
          </a:prstGeom>
          <a:noFill/>
          <a:ln/>
        </p:spPr>
        <p:txBody>
          <a:bodyPr wrap="none" lIns="0" tIns="0" rIns="0" bIns="0" rtlCol="0" anchor="t"/>
          <a:lstStyle/>
          <a:p>
            <a:pPr algn="l" indent="0" marL="0">
              <a:lnSpc>
                <a:spcPct val="96000"/>
              </a:lnSpc>
              <a:buNone/>
            </a:pPr>
            <a:r>
              <a:rPr lang="en-US" sz="1150" spc="69" kern="0" dirty="0">
                <a:solidFill>
                  <a:srgbClr val="9FB0CC"/>
                </a:solidFill>
                <a:latin typeface="Azeret Mono Medium" pitchFamily="34" charset="0"/>
                <a:ea typeface="Azeret Mono Medium" pitchFamily="34" charset="-122"/>
                <a:cs typeface="Azeret Mono Medium" pitchFamily="34" charset="-120"/>
              </a:rPr>
              <a:t>ADFORGE AI</a:t>
            </a:r>
            <a:endParaRPr lang="en-US" sz="1150" dirty="0"/>
          </a:p>
        </p:txBody>
      </p:sp>
      <p:sp>
        <p:nvSpPr>
          <p:cNvPr id="6" name="Text 4"/>
          <p:cNvSpPr/>
          <p:nvPr/>
        </p:nvSpPr>
        <p:spPr>
          <a:xfrm>
            <a:off x="507987" y="1392833"/>
            <a:ext cx="6160239"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THE TAKEAWAY</a:t>
            </a:r>
            <a:endParaRPr lang="en-US" sz="1200" dirty="0"/>
          </a:p>
        </p:txBody>
      </p:sp>
      <p:sp>
        <p:nvSpPr>
          <p:cNvPr id="7" name="Text 5"/>
          <p:cNvSpPr/>
          <p:nvPr/>
        </p:nvSpPr>
        <p:spPr>
          <a:xfrm>
            <a:off x="507987" y="1784548"/>
            <a:ext cx="6160239" cy="1676400"/>
          </a:xfrm>
          <a:prstGeom prst="rect">
            <a:avLst/>
          </a:prstGeom>
          <a:noFill/>
          <a:ln/>
        </p:spPr>
        <p:txBody>
          <a:bodyPr wrap="square" lIns="0" tIns="0" rIns="0" bIns="0" rtlCol="0" anchor="t">
            <a:normAutofit/>
          </a:bodyPr>
          <a:lstStyle/>
          <a:p>
            <a:pPr algn="l" indent="0" marL="0">
              <a:lnSpc>
                <a:spcPct val="83000"/>
              </a:lnSpc>
              <a:buNone/>
            </a:pPr>
            <a:r>
              <a:rPr lang="en-US" sz="4400" b="1" spc="-88" kern="0" dirty="0">
                <a:solidFill>
                  <a:srgbClr val="FFFFFF"/>
                </a:solidFill>
                <a:latin typeface="Sora Bold" pitchFamily="34" charset="0"/>
                <a:ea typeface="Sora Bold" pitchFamily="34" charset="-122"/>
                <a:cs typeface="Sora Bold" pitchFamily="34" charset="-120"/>
              </a:rPr>
              <a:t>From product brief to platform-ready campaign </a:t>
            </a:r>
            <a:pPr algn="l" indent="0" marL="0">
              <a:lnSpc>
                <a:spcPct val="83000"/>
              </a:lnSpc>
              <a:buNone/>
            </a:pPr>
            <a:r>
              <a:rPr lang="en-US" sz="4400" b="1" spc="-88" kern="0" dirty="0">
                <a:solidFill>
                  <a:srgbClr val="EE5A45"/>
                </a:solidFill>
                <a:latin typeface="Sora Bold" pitchFamily="34" charset="0"/>
                <a:ea typeface="Sora Bold" pitchFamily="34" charset="-122"/>
                <a:cs typeface="Sora Bold" pitchFamily="34" charset="-120"/>
              </a:rPr>
              <a:t>faster</a:t>
            </a:r>
            <a:endParaRPr lang="en-US" sz="4400" dirty="0"/>
          </a:p>
        </p:txBody>
      </p:sp>
      <p:sp>
        <p:nvSpPr>
          <p:cNvPr id="8" name="Text 6"/>
          <p:cNvSpPr/>
          <p:nvPr/>
        </p:nvSpPr>
        <p:spPr>
          <a:xfrm>
            <a:off x="507987" y="3676848"/>
            <a:ext cx="6160239" cy="1673027"/>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D6DEEC"/>
                </a:solidFill>
                <a:latin typeface="Mona Sans" pitchFamily="34" charset="0"/>
                <a:ea typeface="Mona Sans" pitchFamily="34" charset="-122"/>
                <a:cs typeface="Mona Sans" pitchFamily="34" charset="-120"/>
              </a:rPr>
              <a:t>Reduce time required to create ad campaigns.</a:t>
            </a:r>
            <a:endParaRPr lang="en-US" sz="1700" dirty="0"/>
          </a:p>
          <a:p>
            <a:pPr algn="l" marL="345440" indent="-345440">
              <a:lnSpc>
                <a:spcPct val="117000"/>
              </a:lnSpc>
              <a:buSzPct val="100000"/>
              <a:buChar char="•"/>
            </a:pPr>
            <a:r>
              <a:rPr lang="en-US" sz="1700" dirty="0">
                <a:solidFill>
                  <a:srgbClr val="D6DEEC"/>
                </a:solidFill>
                <a:latin typeface="Mona Sans" pitchFamily="34" charset="0"/>
                <a:ea typeface="Mona Sans" pitchFamily="34" charset="-122"/>
                <a:cs typeface="Mona Sans" pitchFamily="34" charset="-120"/>
              </a:rPr>
              <a:t>Help smaller teams create professional advertisements.</a:t>
            </a:r>
            <a:endParaRPr lang="en-US" sz="1700" dirty="0"/>
          </a:p>
          <a:p>
            <a:pPr algn="l" marL="345440" indent="-345440">
              <a:lnSpc>
                <a:spcPct val="117000"/>
              </a:lnSpc>
              <a:buSzPct val="100000"/>
              <a:buChar char="•"/>
            </a:pPr>
            <a:r>
              <a:rPr lang="en-US" sz="1700" dirty="0">
                <a:solidFill>
                  <a:srgbClr val="D6DEEC"/>
                </a:solidFill>
                <a:latin typeface="Mona Sans" pitchFamily="34" charset="0"/>
                <a:ea typeface="Mona Sans" pitchFamily="34" charset="-122"/>
                <a:cs typeface="Mona Sans" pitchFamily="34" charset="-120"/>
              </a:rPr>
              <a:t>Generate ad variations and adapt content across platforms.</a:t>
            </a:r>
            <a:endParaRPr lang="en-US" sz="1700" dirty="0"/>
          </a:p>
          <a:p>
            <a:pPr algn="l" marL="345440" indent="-345440">
              <a:lnSpc>
                <a:spcPct val="117000"/>
              </a:lnSpc>
              <a:buSzPct val="100000"/>
              <a:buChar char="•"/>
            </a:pPr>
            <a:r>
              <a:rPr lang="en-US" sz="1700" dirty="0">
                <a:solidFill>
                  <a:srgbClr val="D6DEEC"/>
                </a:solidFill>
                <a:latin typeface="Mona Sans" pitchFamily="34" charset="0"/>
                <a:ea typeface="Mona Sans" pitchFamily="34" charset="-122"/>
                <a:cs typeface="Mona Sans" pitchFamily="34" charset="-120"/>
              </a:rPr>
              <a:t>Reduce repetitive creative work.</a:t>
            </a:r>
            <a:endParaRPr lang="en-US" sz="1700" dirty="0"/>
          </a:p>
        </p:txBody>
      </p:sp>
      <p:sp>
        <p:nvSpPr>
          <p:cNvPr id="9" name="Shape 7"/>
          <p:cNvSpPr/>
          <p:nvPr/>
        </p:nvSpPr>
        <p:spPr>
          <a:xfrm>
            <a:off x="6972919" y="1124148"/>
            <a:ext cx="4710788" cy="4494411"/>
          </a:xfrm>
          <a:prstGeom prst="roundRect">
            <a:avLst>
              <a:gd name="adj" fmla="val 2018"/>
            </a:avLst>
          </a:prstGeom>
          <a:solidFill>
            <a:srgbClr val="0A1633"/>
          </a:solidFill>
          <a:ln/>
        </p:spPr>
      </p:sp>
      <p:sp>
        <p:nvSpPr>
          <p:cNvPr id="10" name="Text 8"/>
          <p:cNvSpPr/>
          <p:nvPr/>
        </p:nvSpPr>
        <p:spPr>
          <a:xfrm>
            <a:off x="7201514" y="1352748"/>
            <a:ext cx="4482194"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FFFFFF"/>
                </a:solidFill>
                <a:latin typeface="Azeret Mono Medium" pitchFamily="34" charset="0"/>
                <a:ea typeface="Azeret Mono Medium" pitchFamily="34" charset="-122"/>
                <a:cs typeface="Azeret Mono Medium" pitchFamily="34" charset="-120"/>
              </a:rPr>
              <a:t>NEXT HORIZON</a:t>
            </a:r>
            <a:endParaRPr lang="en-US" sz="1200" dirty="0"/>
          </a:p>
        </p:txBody>
      </p:sp>
      <p:sp>
        <p:nvSpPr>
          <p:cNvPr id="11" name="Text 9"/>
          <p:cNvSpPr/>
          <p:nvPr/>
        </p:nvSpPr>
        <p:spPr>
          <a:xfrm>
            <a:off x="7201514" y="1677789"/>
            <a:ext cx="4253600" cy="2525713"/>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Brand kits, brand voice learning, A/B testing, performance optimization</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Social publishing, AI-generated images and videos, multilingual advertising</a:t>
            </a:r>
            <a:endParaRPr lang="en-US" sz="1700" dirty="0"/>
          </a:p>
          <a:p>
            <a:pPr algn="l" marL="345440" indent="-345440">
              <a:lnSpc>
                <a:spcPct val="117000"/>
              </a:lnSpc>
              <a:buSzPct val="100000"/>
              <a:buChar char="•"/>
            </a:pPr>
            <a:r>
              <a:rPr lang="en-US" sz="1700" dirty="0">
                <a:solidFill>
                  <a:srgbClr val="FFFFFF"/>
                </a:solidFill>
                <a:latin typeface="Mona Sans" pitchFamily="34" charset="0"/>
                <a:ea typeface="Mona Sans" pitchFamily="34" charset="-122"/>
                <a:cs typeface="Mona Sans" pitchFamily="34" charset="-120"/>
              </a:rPr>
              <a:t>Campaign analytics, team collaboration, subscription-based SaaS plans</a:t>
            </a:r>
            <a:endParaRPr lang="en-US" sz="1700" dirty="0"/>
          </a:p>
        </p:txBody>
      </p:sp>
      <p:sp>
        <p:nvSpPr>
          <p:cNvPr id="12" name="Shape 10"/>
          <p:cNvSpPr/>
          <p:nvPr/>
        </p:nvSpPr>
        <p:spPr>
          <a:xfrm>
            <a:off x="507987" y="5866209"/>
            <a:ext cx="3687968" cy="38100"/>
          </a:xfrm>
          <a:prstGeom prst="roundRect">
            <a:avLst>
              <a:gd name="adj" fmla="val 49999"/>
            </a:avLst>
          </a:prstGeom>
          <a:solidFill>
            <a:srgbClr val="3D7BFF"/>
          </a:solidFill>
          <a:ln/>
        </p:spPr>
      </p:sp>
      <p:sp>
        <p:nvSpPr>
          <p:cNvPr id="13" name="Text 11"/>
          <p:cNvSpPr/>
          <p:nvPr/>
        </p:nvSpPr>
        <p:spPr>
          <a:xfrm>
            <a:off x="507987" y="6151959"/>
            <a:ext cx="11683708" cy="198041"/>
          </a:xfrm>
          <a:prstGeom prst="rect">
            <a:avLst/>
          </a:prstGeom>
          <a:noFill/>
          <a:ln/>
        </p:spPr>
        <p:txBody>
          <a:bodyPr wrap="none" lIns="0" tIns="0" rIns="0" bIns="0" rtlCol="0" anchor="t"/>
          <a:lstStyle/>
          <a:p>
            <a:pPr algn="l" indent="0" marL="0">
              <a:lnSpc>
                <a:spcPct val="108000"/>
              </a:lnSpc>
              <a:buNone/>
            </a:pPr>
            <a:r>
              <a:rPr lang="en-US" sz="1200" spc="72" kern="0" dirty="0">
                <a:solidFill>
                  <a:srgbClr val="9FB0CC"/>
                </a:solidFill>
                <a:latin typeface="Azeret Mono Medium" pitchFamily="34" charset="0"/>
                <a:ea typeface="Azeret Mono Medium" pitchFamily="34" charset="-122"/>
                <a:cs typeface="Azeret Mono Medium" pitchFamily="34" charset="-120"/>
              </a:rPr>
              <a:t>ADFORGE AI · CREATE. GENERATE. ADAPT. · 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2026-09-30T13:59:37Z</dcterms:created>
  <dcterms:modified xsi:type="dcterms:W3CDTF">2026-09-30T13:59:37Z</dcterms:modified>
</cp:coreProperties>
</file>